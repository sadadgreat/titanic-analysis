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rawings/drawing1.xml" ContentType="application/vnd.openxmlformats-officedocument.drawingml.chartshapes+xml"/>
  <Override PartName="/ppt/charts/chart3.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59" r:id="rId6"/>
    <p:sldId id="262"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6F2"/>
    <a:srgbClr val="2F9D94"/>
    <a:srgbClr val="06315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97" d="100"/>
          <a:sy n="97" d="100"/>
        </p:scale>
        <p:origin x="138"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hp\Desktop\FAVOUR%20FUMNANYA%20OKOCHA%20TITANIC%20PROJECT.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hp\Desktop\FAVOUR%20FUMNANYA%20OKOCHA%20TITANIC%20PROJECT.xlsx" TargetMode="Externa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chartUserShapes" Target="../drawings/drawing1.xml"/></Relationships>
</file>

<file path=ppt/charts/_rels/chart3.xml.rels><?xml version="1.0" encoding="UTF-8" standalone="yes"?>
<Relationships xmlns="http://schemas.openxmlformats.org/package/2006/relationships"><Relationship Id="rId1" Type="http://schemas.openxmlformats.org/officeDocument/2006/relationships/oleObject" Target="file:///C:\Users\hp\Desktop\FAVOUR%20FUMNANYA%20OKOCHA%20TITANIC%20PROJECT.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[FAVOUR FUMNANYA OKOCHA TITANIC PROJECT.xlsx]Pivot Table!Total no passengers</c:name>
    <c:fmtId val="16"/>
  </c:pivotSource>
  <c:chart>
    <c:title>
      <c:tx>
        <c:rich>
          <a:bodyPr rot="0" spcFirstLastPara="1" vertOverflow="ellipsis" vert="horz" wrap="square" anchor="ctr" anchorCtr="1"/>
          <a:lstStyle/>
          <a:p>
            <a:pPr algn="ctr">
              <a:defRPr sz="1400" b="0" i="0" u="none" strike="noStrike" kern="1200" spc="0" baseline="0">
                <a:solidFill>
                  <a:schemeClr val="tx1">
                    <a:lumMod val="65000"/>
                    <a:lumOff val="35000"/>
                  </a:schemeClr>
                </a:solidFill>
                <a:latin typeface="+mn-lt"/>
                <a:ea typeface="+mn-ea"/>
                <a:cs typeface="+mn-cs"/>
              </a:defRPr>
            </a:pPr>
            <a:r>
              <a:rPr lang="en-US" sz="1200" b="1">
                <a:solidFill>
                  <a:srgbClr val="2F9D94"/>
                </a:solidFill>
                <a:latin typeface="Georgia" panose="02040502050405020303" pitchFamily="18" charset="0"/>
              </a:rPr>
              <a:t>Total</a:t>
            </a:r>
            <a:r>
              <a:rPr lang="en-US" sz="1200" b="1" baseline="0">
                <a:solidFill>
                  <a:srgbClr val="2F9D94"/>
                </a:solidFill>
                <a:latin typeface="Georgia" panose="02040502050405020303" pitchFamily="18" charset="0"/>
              </a:rPr>
              <a:t> no </a:t>
            </a:r>
            <a:r>
              <a:rPr lang="en-US" sz="1200" b="1">
                <a:solidFill>
                  <a:srgbClr val="2F9D94"/>
                </a:solidFill>
                <a:latin typeface="Georgia" panose="02040502050405020303" pitchFamily="18" charset="0"/>
              </a:rPr>
              <a:t>Passengers</a:t>
            </a:r>
            <a:r>
              <a:rPr lang="en-US" sz="1200" b="1" baseline="0">
                <a:solidFill>
                  <a:srgbClr val="2F9D94"/>
                </a:solidFill>
                <a:latin typeface="Georgia" panose="02040502050405020303" pitchFamily="18" charset="0"/>
              </a:rPr>
              <a:t> </a:t>
            </a:r>
          </a:p>
        </c:rich>
      </c:tx>
      <c:layout>
        <c:manualLayout>
          <c:xMode val="edge"/>
          <c:yMode val="edge"/>
          <c:x val="0.17080111588992322"/>
          <c:y val="6.8965517241379309E-2"/>
        </c:manualLayout>
      </c:layout>
      <c:overlay val="0"/>
      <c:spPr>
        <a:noFill/>
        <a:ln>
          <a:noFill/>
        </a:ln>
        <a:effectLst/>
      </c:spPr>
      <c:txPr>
        <a:bodyPr rot="0" spcFirstLastPara="1" vertOverflow="ellipsis" vert="horz" wrap="square" anchor="ctr" anchorCtr="1"/>
        <a:lstStyle/>
        <a:p>
          <a:pPr algn="ct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rgbClr val="2F9D94"/>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rgbClr val="063154"/>
          </a:solidFill>
          <a:ln>
            <a:noFill/>
          </a:ln>
          <a:effectLst/>
        </c:spPr>
      </c:pivotFmt>
      <c:pivotFmt>
        <c:idx val="2"/>
        <c:spPr>
          <a:solidFill>
            <a:srgbClr val="025F67"/>
          </a:solidFill>
          <a:ln>
            <a:noFill/>
          </a:ln>
          <a:effectLst/>
        </c:spPr>
      </c:pivotFmt>
      <c:pivotFmt>
        <c:idx val="3"/>
        <c:spPr>
          <a:solidFill>
            <a:srgbClr val="2F9D94"/>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rgbClr val="063154"/>
          </a:solidFill>
          <a:ln>
            <a:noFill/>
          </a:ln>
          <a:effectLst/>
        </c:spPr>
      </c:pivotFmt>
      <c:pivotFmt>
        <c:idx val="5"/>
        <c:spPr>
          <a:solidFill>
            <a:srgbClr val="025F67"/>
          </a:solidFill>
          <a:ln>
            <a:noFill/>
          </a:ln>
          <a:effectLst/>
        </c:spPr>
      </c:pivotFmt>
      <c:pivotFmt>
        <c:idx val="6"/>
        <c:spPr>
          <a:solidFill>
            <a:srgbClr val="2F9D94"/>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
        <c:spPr>
          <a:solidFill>
            <a:srgbClr val="063154"/>
          </a:solidFill>
          <a:ln>
            <a:noFill/>
          </a:ln>
          <a:effectLst/>
        </c:spPr>
      </c:pivotFmt>
      <c:pivotFmt>
        <c:idx val="8"/>
        <c:spPr>
          <a:solidFill>
            <a:srgbClr val="025F67"/>
          </a:solidFill>
          <a:ln>
            <a:noFill/>
          </a:ln>
          <a:effectLst/>
        </c:spPr>
      </c:pivotFmt>
    </c:pivotFmts>
    <c:plotArea>
      <c:layout/>
      <c:barChart>
        <c:barDir val="col"/>
        <c:grouping val="clustered"/>
        <c:varyColors val="0"/>
        <c:ser>
          <c:idx val="0"/>
          <c:order val="0"/>
          <c:tx>
            <c:strRef>
              <c:f>'Pivot Table'!$B$3</c:f>
              <c:strCache>
                <c:ptCount val="1"/>
                <c:pt idx="0">
                  <c:v>Total</c:v>
                </c:pt>
              </c:strCache>
            </c:strRef>
          </c:tx>
          <c:spPr>
            <a:solidFill>
              <a:srgbClr val="2F9D94"/>
            </a:solidFill>
            <a:ln>
              <a:noFill/>
            </a:ln>
            <a:effectLst/>
          </c:spPr>
          <c:invertIfNegative val="0"/>
          <c:dPt>
            <c:idx val="1"/>
            <c:invertIfNegative val="0"/>
            <c:bubble3D val="0"/>
            <c:spPr>
              <a:solidFill>
                <a:srgbClr val="063154"/>
              </a:solidFill>
              <a:ln>
                <a:noFill/>
              </a:ln>
              <a:effectLst/>
            </c:spPr>
            <c:extLst>
              <c:ext xmlns:c16="http://schemas.microsoft.com/office/drawing/2014/chart" uri="{C3380CC4-5D6E-409C-BE32-E72D297353CC}">
                <c16:uniqueId val="{00000001-FDBE-4DD6-9592-BFB7134DC358}"/>
              </c:ext>
            </c:extLst>
          </c:dPt>
          <c:dPt>
            <c:idx val="2"/>
            <c:invertIfNegative val="0"/>
            <c:bubble3D val="0"/>
            <c:spPr>
              <a:solidFill>
                <a:srgbClr val="025F67"/>
              </a:solidFill>
              <a:ln>
                <a:noFill/>
              </a:ln>
              <a:effectLst/>
            </c:spPr>
            <c:extLst>
              <c:ext xmlns:c16="http://schemas.microsoft.com/office/drawing/2014/chart" uri="{C3380CC4-5D6E-409C-BE32-E72D297353CC}">
                <c16:uniqueId val="{00000003-FDBE-4DD6-9592-BFB7134DC358}"/>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 Table'!$A$4:$A$7</c:f>
              <c:strCache>
                <c:ptCount val="3"/>
                <c:pt idx="0">
                  <c:v>1</c:v>
                </c:pt>
                <c:pt idx="1">
                  <c:v>2</c:v>
                </c:pt>
                <c:pt idx="2">
                  <c:v>3</c:v>
                </c:pt>
              </c:strCache>
            </c:strRef>
          </c:cat>
          <c:val>
            <c:numRef>
              <c:f>'Pivot Table'!$B$4:$B$7</c:f>
              <c:numCache>
                <c:formatCode>General</c:formatCode>
                <c:ptCount val="3"/>
                <c:pt idx="0">
                  <c:v>107</c:v>
                </c:pt>
                <c:pt idx="1">
                  <c:v>93</c:v>
                </c:pt>
                <c:pt idx="2">
                  <c:v>218</c:v>
                </c:pt>
              </c:numCache>
            </c:numRef>
          </c:val>
          <c:extLst>
            <c:ext xmlns:c16="http://schemas.microsoft.com/office/drawing/2014/chart" uri="{C3380CC4-5D6E-409C-BE32-E72D297353CC}">
              <c16:uniqueId val="{00000004-FDBE-4DD6-9592-BFB7134DC358}"/>
            </c:ext>
          </c:extLst>
        </c:ser>
        <c:dLbls>
          <c:dLblPos val="outEnd"/>
          <c:showLegendKey val="0"/>
          <c:showVal val="1"/>
          <c:showCatName val="0"/>
          <c:showSerName val="0"/>
          <c:showPercent val="0"/>
          <c:showBubbleSize val="0"/>
        </c:dLbls>
        <c:gapWidth val="219"/>
        <c:overlap val="-27"/>
        <c:axId val="1340579423"/>
        <c:axId val="1340573663"/>
      </c:barChart>
      <c:catAx>
        <c:axId val="1340579423"/>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40573663"/>
        <c:crosses val="autoZero"/>
        <c:auto val="1"/>
        <c:lblAlgn val="ctr"/>
        <c:lblOffset val="100"/>
        <c:noMultiLvlLbl val="0"/>
      </c:catAx>
      <c:valAx>
        <c:axId val="1340573663"/>
        <c:scaling>
          <c:orientation val="minMax"/>
        </c:scaling>
        <c:delete val="1"/>
        <c:axPos val="l"/>
        <c:numFmt formatCode="General" sourceLinked="1"/>
        <c:majorTickMark val="out"/>
        <c:minorTickMark val="none"/>
        <c:tickLblPos val="nextTo"/>
        <c:crossAx val="134057942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rgbClr val="BCC5CC"/>
    </a:soli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[FAVOUR FUMNANYA OKOCHA TITANIC PROJECT.xlsx]Pivot Table!noof survials and death</c:name>
    <c:fmtId val="9"/>
  </c:pivotSource>
  <c:chart>
    <c:autoTitleDeleted val="1"/>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
        <c:spPr>
          <a:solidFill>
            <a:srgbClr val="2F9D94"/>
          </a:solidFill>
          <a:ln w="19050">
            <a:solidFill>
              <a:schemeClr val="lt1"/>
            </a:solidFill>
          </a:ln>
          <a:effectLst/>
        </c:spPr>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19050">
            <a:solidFill>
              <a:schemeClr val="lt1"/>
            </a:solidFill>
          </a:ln>
          <a:effectLst/>
        </c:spPr>
      </c:pivotFmt>
      <c:pivotFmt>
        <c:idx val="5"/>
        <c:spPr>
          <a:solidFill>
            <a:srgbClr val="2F9D94"/>
          </a:solidFill>
          <a:ln w="19050">
            <a:solidFill>
              <a:schemeClr val="lt1"/>
            </a:solidFill>
          </a:ln>
          <a:effectLst/>
        </c:spPr>
      </c:pivotFmt>
      <c:pivotFmt>
        <c:idx val="6"/>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w="19050">
            <a:solidFill>
              <a:schemeClr val="lt1"/>
            </a:solidFill>
          </a:ln>
          <a:effectLst/>
        </c:spPr>
      </c:pivotFmt>
      <c:pivotFmt>
        <c:idx val="8"/>
        <c:spPr>
          <a:solidFill>
            <a:srgbClr val="2F9D94"/>
          </a:solidFill>
          <a:ln w="19050">
            <a:solidFill>
              <a:schemeClr val="lt1"/>
            </a:solidFill>
          </a:ln>
          <a:effectLst/>
        </c:spPr>
      </c:pivotFmt>
    </c:pivotFmts>
    <c:plotArea>
      <c:layout>
        <c:manualLayout>
          <c:layoutTarget val="inner"/>
          <c:xMode val="edge"/>
          <c:yMode val="edge"/>
          <c:x val="0.20904753572470108"/>
          <c:y val="0.21010101010101009"/>
          <c:w val="0.51407407407407413"/>
          <c:h val="0.70101010101010097"/>
        </c:manualLayout>
      </c:layout>
      <c:pieChart>
        <c:varyColors val="1"/>
        <c:ser>
          <c:idx val="0"/>
          <c:order val="0"/>
          <c:tx>
            <c:strRef>
              <c:f>'Pivot Table'!$N$3</c:f>
              <c:strCache>
                <c:ptCount val="1"/>
                <c:pt idx="0">
                  <c:v>Total</c:v>
                </c:pt>
              </c:strCache>
            </c:strRef>
          </c:tx>
          <c:dPt>
            <c:idx val="0"/>
            <c:bubble3D val="0"/>
            <c:explosion val="23"/>
            <c:spPr>
              <a:solidFill>
                <a:schemeClr val="accent1"/>
              </a:solidFill>
              <a:ln w="19050">
                <a:solidFill>
                  <a:schemeClr val="lt1"/>
                </a:solidFill>
              </a:ln>
              <a:effectLst/>
            </c:spPr>
            <c:extLst>
              <c:ext xmlns:c16="http://schemas.microsoft.com/office/drawing/2014/chart" uri="{C3380CC4-5D6E-409C-BE32-E72D297353CC}">
                <c16:uniqueId val="{00000001-F013-4972-9616-08F6D4F29B71}"/>
              </c:ext>
            </c:extLst>
          </c:dPt>
          <c:dPt>
            <c:idx val="1"/>
            <c:bubble3D val="0"/>
            <c:spPr>
              <a:solidFill>
                <a:srgbClr val="2F9D94"/>
              </a:solidFill>
              <a:ln w="19050">
                <a:solidFill>
                  <a:schemeClr val="lt1"/>
                </a:solidFill>
              </a:ln>
              <a:effectLst/>
            </c:spPr>
            <c:extLst>
              <c:ext xmlns:c16="http://schemas.microsoft.com/office/drawing/2014/chart" uri="{C3380CC4-5D6E-409C-BE32-E72D297353CC}">
                <c16:uniqueId val="{00000003-F013-4972-9616-08F6D4F29B71}"/>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'Pivot Table'!$M$4:$M$6</c:f>
              <c:strCache>
                <c:ptCount val="2"/>
                <c:pt idx="0">
                  <c:v>0</c:v>
                </c:pt>
                <c:pt idx="1">
                  <c:v>1</c:v>
                </c:pt>
              </c:strCache>
            </c:strRef>
          </c:cat>
          <c:val>
            <c:numRef>
              <c:f>'Pivot Table'!$N$4:$N$6</c:f>
              <c:numCache>
                <c:formatCode>General</c:formatCode>
                <c:ptCount val="2"/>
                <c:pt idx="0">
                  <c:v>266</c:v>
                </c:pt>
                <c:pt idx="1">
                  <c:v>152</c:v>
                </c:pt>
              </c:numCache>
            </c:numRef>
          </c:val>
          <c:extLst>
            <c:ext xmlns:c16="http://schemas.microsoft.com/office/drawing/2014/chart" uri="{C3380CC4-5D6E-409C-BE32-E72D297353CC}">
              <c16:uniqueId val="{00000004-F013-4972-9616-08F6D4F29B71}"/>
            </c:ext>
          </c:extLst>
        </c:ser>
        <c:dLbls>
          <c:dLblPos val="bestFit"/>
          <c:showLegendKey val="0"/>
          <c:showVal val="1"/>
          <c:showCatName val="0"/>
          <c:showSerName val="0"/>
          <c:showPercent val="0"/>
          <c:showBubbleSize val="0"/>
          <c:showLeaderLines val="1"/>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rgbClr val="BCC5CC"/>
    </a:soli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userShapes r:id="rId4"/>
  <c:extLst>
    <c:ext xmlns:c14="http://schemas.microsoft.com/office/drawing/2007/8/2/chart" uri="{781A3756-C4B2-4CAC-9D66-4F8BD8637D16}">
      <c14:pivotOptions>
        <c14:dropZoneFilter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[FAVOUR FUMNANYA OKOCHA TITANIC PROJECT.xlsx]Pivot Table!passengers embarked by location</c:name>
    <c:fmtId val="24"/>
  </c:pivotSource>
  <c:chart>
    <c:title>
      <c:tx>
        <c:rich>
          <a:bodyPr rot="0" spcFirstLastPara="1" vertOverflow="ellipsis" vert="horz" wrap="square" anchor="ctr" anchorCtr="1"/>
          <a:lstStyle/>
          <a:p>
            <a:pPr>
              <a:defRPr sz="1400" b="0" i="0" u="none" strike="noStrike" kern="1200" spc="0" baseline="0">
                <a:solidFill>
                  <a:srgbClr val="2F9D94"/>
                </a:solidFill>
                <a:latin typeface="+mn-lt"/>
                <a:ea typeface="+mn-ea"/>
                <a:cs typeface="+mn-cs"/>
              </a:defRPr>
            </a:pPr>
            <a:r>
              <a:rPr lang="en-US" sz="900" b="1">
                <a:solidFill>
                  <a:srgbClr val="2F9D94"/>
                </a:solidFill>
                <a:latin typeface="Georgia" panose="02040502050405020303" pitchFamily="18" charset="0"/>
              </a:rPr>
              <a:t>No of passengers by location</a:t>
            </a:r>
          </a:p>
        </c:rich>
      </c:tx>
      <c:layout>
        <c:manualLayout>
          <c:xMode val="edge"/>
          <c:yMode val="edge"/>
          <c:x val="0.14483398890547669"/>
          <c:y val="3.8095238095238099E-2"/>
        </c:manualLayout>
      </c:layout>
      <c:overlay val="0"/>
      <c:spPr>
        <a:noFill/>
        <a:ln>
          <a:noFill/>
        </a:ln>
        <a:effectLst/>
      </c:spPr>
    </c:title>
    <c:autoTitleDeleted val="0"/>
    <c:pivotFmts>
      <c:pivotFmt>
        <c:idx val="0"/>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4"/>
        <c:spPr>
          <a:solidFill>
            <a:srgbClr val="2F9D94"/>
          </a:solidFill>
          <a:ln>
            <a:noFill/>
          </a:ln>
          <a:effectLst/>
        </c:spPr>
      </c:pivotFmt>
      <c:pivotFmt>
        <c:idx val="5"/>
        <c:spPr>
          <a:solidFill>
            <a:srgbClr val="063154"/>
          </a:solidFill>
          <a:ln>
            <a:noFill/>
          </a:ln>
          <a:effectLst/>
        </c:spPr>
      </c:pivotFmt>
      <c:pivotFmt>
        <c:idx val="6"/>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7"/>
        <c:spPr>
          <a:solidFill>
            <a:srgbClr val="2F9D94"/>
          </a:solidFill>
          <a:ln>
            <a:noFill/>
          </a:ln>
          <a:effectLst/>
        </c:spPr>
      </c:pivotFmt>
      <c:pivotFmt>
        <c:idx val="8"/>
        <c:spPr>
          <a:solidFill>
            <a:srgbClr val="063154"/>
          </a:solidFill>
          <a:ln>
            <a:noFill/>
          </a:ln>
          <a:effectLst/>
        </c:spPr>
      </c:pivotFmt>
      <c:pivotFmt>
        <c:idx val="9"/>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10"/>
        <c:spPr>
          <a:solidFill>
            <a:srgbClr val="2F9D94"/>
          </a:solidFill>
          <a:ln>
            <a:noFill/>
          </a:ln>
          <a:effectLst/>
        </c:spPr>
      </c:pivotFmt>
      <c:pivotFmt>
        <c:idx val="11"/>
        <c:spPr>
          <a:solidFill>
            <a:srgbClr val="063154"/>
          </a:solidFill>
          <a:ln>
            <a:noFill/>
          </a:ln>
          <a:effectLst/>
        </c:spPr>
      </c:pivotFmt>
    </c:pivotFmts>
    <c:plotArea>
      <c:layout/>
      <c:barChart>
        <c:barDir val="col"/>
        <c:grouping val="clustered"/>
        <c:varyColors val="0"/>
        <c:ser>
          <c:idx val="0"/>
          <c:order val="0"/>
          <c:tx>
            <c:strRef>
              <c:f>'Pivot Table'!$G$13</c:f>
              <c:strCache>
                <c:ptCount val="1"/>
                <c:pt idx="0">
                  <c:v>Total</c:v>
                </c:pt>
              </c:strCache>
            </c:strRef>
          </c:tx>
          <c:spPr>
            <a:solidFill>
              <a:schemeClr val="accent1"/>
            </a:solidFill>
            <a:ln>
              <a:noFill/>
            </a:ln>
            <a:effectLst/>
          </c:spPr>
          <c:invertIfNegative val="0"/>
          <c:dPt>
            <c:idx val="0"/>
            <c:invertIfNegative val="0"/>
            <c:bubble3D val="0"/>
            <c:spPr>
              <a:solidFill>
                <a:srgbClr val="2F9D94"/>
              </a:solidFill>
              <a:ln>
                <a:noFill/>
              </a:ln>
              <a:effectLst/>
            </c:spPr>
            <c:extLst>
              <c:ext xmlns:c16="http://schemas.microsoft.com/office/drawing/2014/chart" uri="{C3380CC4-5D6E-409C-BE32-E72D297353CC}">
                <c16:uniqueId val="{00000001-6AE3-45A0-A591-D008ED07FC92}"/>
              </c:ext>
            </c:extLst>
          </c:dPt>
          <c:dPt>
            <c:idx val="2"/>
            <c:invertIfNegative val="0"/>
            <c:bubble3D val="0"/>
            <c:spPr>
              <a:solidFill>
                <a:srgbClr val="063154"/>
              </a:solidFill>
              <a:ln>
                <a:noFill/>
              </a:ln>
              <a:effectLst/>
            </c:spPr>
            <c:extLst>
              <c:ext xmlns:c16="http://schemas.microsoft.com/office/drawing/2014/chart" uri="{C3380CC4-5D6E-409C-BE32-E72D297353CC}">
                <c16:uniqueId val="{00000003-6AE3-45A0-A591-D008ED07FC92}"/>
              </c:ext>
            </c:extLst>
          </c:dPt>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'Pivot Table'!$F$14:$F$17</c:f>
              <c:strCache>
                <c:ptCount val="3"/>
                <c:pt idx="0">
                  <c:v>C</c:v>
                </c:pt>
                <c:pt idx="1">
                  <c:v>Q</c:v>
                </c:pt>
                <c:pt idx="2">
                  <c:v>S</c:v>
                </c:pt>
              </c:strCache>
            </c:strRef>
          </c:cat>
          <c:val>
            <c:numRef>
              <c:f>'Pivot Table'!$G$14:$G$17</c:f>
              <c:numCache>
                <c:formatCode>General</c:formatCode>
                <c:ptCount val="3"/>
                <c:pt idx="0">
                  <c:v>102</c:v>
                </c:pt>
                <c:pt idx="1">
                  <c:v>46</c:v>
                </c:pt>
                <c:pt idx="2">
                  <c:v>270</c:v>
                </c:pt>
              </c:numCache>
            </c:numRef>
          </c:val>
          <c:extLst>
            <c:ext xmlns:c16="http://schemas.microsoft.com/office/drawing/2014/chart" uri="{C3380CC4-5D6E-409C-BE32-E72D297353CC}">
              <c16:uniqueId val="{00000004-6AE3-45A0-A591-D008ED07FC92}"/>
            </c:ext>
          </c:extLst>
        </c:ser>
        <c:dLbls>
          <c:dLblPos val="outEnd"/>
          <c:showLegendKey val="0"/>
          <c:showVal val="1"/>
          <c:showCatName val="0"/>
          <c:showSerName val="0"/>
          <c:showPercent val="0"/>
          <c:showBubbleSize val="0"/>
        </c:dLbls>
        <c:gapWidth val="219"/>
        <c:overlap val="-27"/>
        <c:axId val="269238624"/>
        <c:axId val="269234304"/>
      </c:barChart>
      <c:catAx>
        <c:axId val="2692386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rgbClr val="063154"/>
                </a:solidFill>
                <a:latin typeface="Georgia" panose="02040502050405020303" pitchFamily="18" charset="0"/>
                <a:ea typeface="+mn-ea"/>
                <a:cs typeface="+mn-cs"/>
              </a:defRPr>
            </a:pPr>
            <a:endParaRPr lang="en-US"/>
          </a:p>
        </c:txPr>
        <c:crossAx val="269234304"/>
        <c:crosses val="autoZero"/>
        <c:auto val="1"/>
        <c:lblAlgn val="ctr"/>
        <c:lblOffset val="100"/>
        <c:noMultiLvlLbl val="0"/>
      </c:catAx>
      <c:valAx>
        <c:axId val="269234304"/>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rgbClr val="063154"/>
                </a:solidFill>
                <a:latin typeface="Georgia" panose="02040502050405020303" pitchFamily="18" charset="0"/>
                <a:ea typeface="+mn-ea"/>
                <a:cs typeface="+mn-cs"/>
              </a:defRPr>
            </a:pPr>
            <a:endParaRPr lang="en-US"/>
          </a:p>
        </c:txPr>
        <c:crossAx val="269238624"/>
        <c:crosses val="autoZero"/>
        <c:crossBetween val="between"/>
      </c:valAx>
    </c:plotArea>
    <c:plotVisOnly val="1"/>
    <c:dispBlanksAs val="gap"/>
    <c:showDLblsOverMax val="0"/>
    <c:extLst/>
  </c:chart>
  <c:spPr>
    <a:solidFill>
      <a:srgbClr val="BCC5CC"/>
    </a:solidFill>
  </c:spPr>
  <c:txPr>
    <a:bodyPr/>
    <a:lstStyle/>
    <a:p>
      <a:pPr>
        <a:defRPr/>
      </a:pPr>
      <a:endParaRPr lang="en-US"/>
    </a:p>
  </c:txPr>
  <c:externalData r:id="rId1">
    <c:autoUpdate val="0"/>
  </c:externalData>
  <c:extLst>
    <c:ext xmlns:c14="http://schemas.microsoft.com/office/drawing/2007/8/2/chart" uri="{781A3756-C4B2-4CAC-9D66-4F8BD8637D16}">
      <c14:pivotOptions>
        <c14:dropZoneFilter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0.16</cdr:x>
      <cdr:y>0.0219</cdr:y>
    </cdr:from>
    <cdr:to>
      <cdr:x>0.67111</cdr:x>
      <cdr:y>0.14599</cdr:y>
    </cdr:to>
    <cdr:sp macro="" textlink="">
      <cdr:nvSpPr>
        <cdr:cNvPr id="2" name="TextBox 1">
          <a:extLst xmlns:a="http://schemas.openxmlformats.org/drawingml/2006/main">
            <a:ext uri="{FF2B5EF4-FFF2-40B4-BE49-F238E27FC236}">
              <a16:creationId xmlns:a16="http://schemas.microsoft.com/office/drawing/2014/main" id="{137D012D-823F-F2B0-4CA7-2793C0508724}"/>
            </a:ext>
          </a:extLst>
        </cdr:cNvPr>
        <cdr:cNvSpPr txBox="1"/>
      </cdr:nvSpPr>
      <cdr:spPr>
        <a:xfrm xmlns:a="http://schemas.openxmlformats.org/drawingml/2006/main">
          <a:off x="342900" y="28575"/>
          <a:ext cx="1095375" cy="161925"/>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a:p>
      </cdr:txBody>
    </cdr:sp>
  </cdr:relSizeAnchor>
  <cdr:relSizeAnchor xmlns:cdr="http://schemas.openxmlformats.org/drawingml/2006/chartDrawing">
    <cdr:from>
      <cdr:x>0.02222</cdr:x>
      <cdr:y>0.02424</cdr:y>
    </cdr:from>
    <cdr:to>
      <cdr:x>0.98667</cdr:x>
      <cdr:y>0.20606</cdr:y>
    </cdr:to>
    <cdr:sp macro="" textlink="">
      <cdr:nvSpPr>
        <cdr:cNvPr id="3" name="TextBox 2">
          <a:extLst xmlns:a="http://schemas.openxmlformats.org/drawingml/2006/main">
            <a:ext uri="{FF2B5EF4-FFF2-40B4-BE49-F238E27FC236}">
              <a16:creationId xmlns:a16="http://schemas.microsoft.com/office/drawing/2014/main" id="{EA38463F-B424-FB42-DD15-E69B6F17CF79}"/>
            </a:ext>
          </a:extLst>
        </cdr:cNvPr>
        <cdr:cNvSpPr txBox="1"/>
      </cdr:nvSpPr>
      <cdr:spPr>
        <a:xfrm xmlns:a="http://schemas.openxmlformats.org/drawingml/2006/main">
          <a:off x="47626" y="38100"/>
          <a:ext cx="2066924" cy="28575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pPr algn="ctr"/>
          <a:r>
            <a:rPr lang="en-US" sz="900" b="1">
              <a:solidFill>
                <a:srgbClr val="063154"/>
              </a:solidFill>
              <a:latin typeface="Georgia" panose="02040502050405020303" pitchFamily="18" charset="0"/>
            </a:rPr>
            <a:t>Total no of survivals &amp; Deaths</a:t>
          </a:r>
        </a:p>
        <a:p xmlns:a="http://schemas.openxmlformats.org/drawingml/2006/main">
          <a:pPr algn="ctr"/>
          <a:endParaRPr lang="en-US" sz="900" b="1">
            <a:solidFill>
              <a:srgbClr val="063154"/>
            </a:solidFill>
            <a:latin typeface="Georgia" panose="02040502050405020303" pitchFamily="18" charset="0"/>
          </a:endParaRPr>
        </a:p>
      </cdr:txBody>
    </cdr:sp>
  </cdr:relSizeAnchor>
</c:userShap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71E73-007E-508F-9FE2-7A7B49E948F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8364CCF-BB28-D352-4131-0F21F1C6AAD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E883331-59BB-D7E1-2EC3-F6A14FDD8A22}"/>
              </a:ext>
            </a:extLst>
          </p:cNvPr>
          <p:cNvSpPr>
            <a:spLocks noGrp="1"/>
          </p:cNvSpPr>
          <p:nvPr>
            <p:ph type="dt" sz="half" idx="10"/>
          </p:nvPr>
        </p:nvSpPr>
        <p:spPr/>
        <p:txBody>
          <a:bodyPr/>
          <a:lstStyle/>
          <a:p>
            <a:fld id="{2BCF07F3-9923-4BFB-994C-94F67EED5F14}" type="datetimeFigureOut">
              <a:rPr lang="en-US" smtClean="0"/>
              <a:t>2026-10-12</a:t>
            </a:fld>
            <a:endParaRPr lang="en-US"/>
          </a:p>
        </p:txBody>
      </p:sp>
      <p:sp>
        <p:nvSpPr>
          <p:cNvPr id="5" name="Footer Placeholder 4">
            <a:extLst>
              <a:ext uri="{FF2B5EF4-FFF2-40B4-BE49-F238E27FC236}">
                <a16:creationId xmlns:a16="http://schemas.microsoft.com/office/drawing/2014/main" id="{9AEFA51D-0266-39C3-309A-6DE8B67C69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4BC12F-0054-00FF-B1A9-DCADEDB88539}"/>
              </a:ext>
            </a:extLst>
          </p:cNvPr>
          <p:cNvSpPr>
            <a:spLocks noGrp="1"/>
          </p:cNvSpPr>
          <p:nvPr>
            <p:ph type="sldNum" sz="quarter" idx="12"/>
          </p:nvPr>
        </p:nvSpPr>
        <p:spPr/>
        <p:txBody>
          <a:bodyPr/>
          <a:lstStyle/>
          <a:p>
            <a:fld id="{A64BDBCD-C509-4B60-AB0F-A461878E83CB}" type="slidenum">
              <a:rPr lang="en-US" smtClean="0"/>
              <a:t>‹#›</a:t>
            </a:fld>
            <a:endParaRPr lang="en-US"/>
          </a:p>
        </p:txBody>
      </p:sp>
    </p:spTree>
    <p:extLst>
      <p:ext uri="{BB962C8B-B14F-4D97-AF65-F5344CB8AC3E}">
        <p14:creationId xmlns:p14="http://schemas.microsoft.com/office/powerpoint/2010/main" val="42246325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94404-CBC3-09CC-C0AD-A947CE883D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9F4B8D5-7D34-FB58-79D9-E6E599E0F01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C09828-5BA0-4FE3-8D46-40505EE994CA}"/>
              </a:ext>
            </a:extLst>
          </p:cNvPr>
          <p:cNvSpPr>
            <a:spLocks noGrp="1"/>
          </p:cNvSpPr>
          <p:nvPr>
            <p:ph type="dt" sz="half" idx="10"/>
          </p:nvPr>
        </p:nvSpPr>
        <p:spPr/>
        <p:txBody>
          <a:bodyPr/>
          <a:lstStyle/>
          <a:p>
            <a:fld id="{2BCF07F3-9923-4BFB-994C-94F67EED5F14}" type="datetimeFigureOut">
              <a:rPr lang="en-US" smtClean="0"/>
              <a:t>2026-10-12</a:t>
            </a:fld>
            <a:endParaRPr lang="en-US"/>
          </a:p>
        </p:txBody>
      </p:sp>
      <p:sp>
        <p:nvSpPr>
          <p:cNvPr id="5" name="Footer Placeholder 4">
            <a:extLst>
              <a:ext uri="{FF2B5EF4-FFF2-40B4-BE49-F238E27FC236}">
                <a16:creationId xmlns:a16="http://schemas.microsoft.com/office/drawing/2014/main" id="{EF086D20-D2A5-6CC2-7853-061BA11994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064707-FB43-545D-1C15-74F417A255B3}"/>
              </a:ext>
            </a:extLst>
          </p:cNvPr>
          <p:cNvSpPr>
            <a:spLocks noGrp="1"/>
          </p:cNvSpPr>
          <p:nvPr>
            <p:ph type="sldNum" sz="quarter" idx="12"/>
          </p:nvPr>
        </p:nvSpPr>
        <p:spPr/>
        <p:txBody>
          <a:bodyPr/>
          <a:lstStyle/>
          <a:p>
            <a:fld id="{A64BDBCD-C509-4B60-AB0F-A461878E83CB}" type="slidenum">
              <a:rPr lang="en-US" smtClean="0"/>
              <a:t>‹#›</a:t>
            </a:fld>
            <a:endParaRPr lang="en-US"/>
          </a:p>
        </p:txBody>
      </p:sp>
    </p:spTree>
    <p:extLst>
      <p:ext uri="{BB962C8B-B14F-4D97-AF65-F5344CB8AC3E}">
        <p14:creationId xmlns:p14="http://schemas.microsoft.com/office/powerpoint/2010/main" val="21394338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C8FF6-BA0C-CDFD-76C9-FE4E239DA3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3F05D6B-1B75-B579-F9B3-66CCF202542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81C5DE-8135-6A1B-6320-E89854779E86}"/>
              </a:ext>
            </a:extLst>
          </p:cNvPr>
          <p:cNvSpPr>
            <a:spLocks noGrp="1"/>
          </p:cNvSpPr>
          <p:nvPr>
            <p:ph type="dt" sz="half" idx="10"/>
          </p:nvPr>
        </p:nvSpPr>
        <p:spPr/>
        <p:txBody>
          <a:bodyPr/>
          <a:lstStyle/>
          <a:p>
            <a:fld id="{2BCF07F3-9923-4BFB-994C-94F67EED5F14}" type="datetimeFigureOut">
              <a:rPr lang="en-US" smtClean="0"/>
              <a:t>2026-10-12</a:t>
            </a:fld>
            <a:endParaRPr lang="en-US"/>
          </a:p>
        </p:txBody>
      </p:sp>
      <p:sp>
        <p:nvSpPr>
          <p:cNvPr id="5" name="Footer Placeholder 4">
            <a:extLst>
              <a:ext uri="{FF2B5EF4-FFF2-40B4-BE49-F238E27FC236}">
                <a16:creationId xmlns:a16="http://schemas.microsoft.com/office/drawing/2014/main" id="{23894A8A-CB98-3656-0A1F-8D6B5D8682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AB4900-A493-8910-AC54-4C4013E6C3E0}"/>
              </a:ext>
            </a:extLst>
          </p:cNvPr>
          <p:cNvSpPr>
            <a:spLocks noGrp="1"/>
          </p:cNvSpPr>
          <p:nvPr>
            <p:ph type="sldNum" sz="quarter" idx="12"/>
          </p:nvPr>
        </p:nvSpPr>
        <p:spPr/>
        <p:txBody>
          <a:bodyPr/>
          <a:lstStyle/>
          <a:p>
            <a:fld id="{A64BDBCD-C509-4B60-AB0F-A461878E83CB}" type="slidenum">
              <a:rPr lang="en-US" smtClean="0"/>
              <a:t>‹#›</a:t>
            </a:fld>
            <a:endParaRPr lang="en-US"/>
          </a:p>
        </p:txBody>
      </p:sp>
    </p:spTree>
    <p:extLst>
      <p:ext uri="{BB962C8B-B14F-4D97-AF65-F5344CB8AC3E}">
        <p14:creationId xmlns:p14="http://schemas.microsoft.com/office/powerpoint/2010/main" val="10507434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C23C3-DB56-1CBD-57AB-1CB92C38299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2F2CC7-D1EB-CB60-133F-4B0B32D955A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1D0D9C7-B35B-6150-62EF-2FE82564176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346091E-2879-718C-C59C-AFC49F6F825E}"/>
              </a:ext>
            </a:extLst>
          </p:cNvPr>
          <p:cNvSpPr>
            <a:spLocks noGrp="1"/>
          </p:cNvSpPr>
          <p:nvPr>
            <p:ph type="dt" sz="half" idx="10"/>
          </p:nvPr>
        </p:nvSpPr>
        <p:spPr/>
        <p:txBody>
          <a:bodyPr/>
          <a:lstStyle/>
          <a:p>
            <a:fld id="{2BCF07F3-9923-4BFB-994C-94F67EED5F14}" type="datetimeFigureOut">
              <a:rPr lang="en-US" smtClean="0"/>
              <a:t>2026-10-12</a:t>
            </a:fld>
            <a:endParaRPr lang="en-US"/>
          </a:p>
        </p:txBody>
      </p:sp>
      <p:sp>
        <p:nvSpPr>
          <p:cNvPr id="6" name="Footer Placeholder 5">
            <a:extLst>
              <a:ext uri="{FF2B5EF4-FFF2-40B4-BE49-F238E27FC236}">
                <a16:creationId xmlns:a16="http://schemas.microsoft.com/office/drawing/2014/main" id="{DB5956A5-7627-11C5-E68A-3CC19601EA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1DB6A0D-8B7C-75D8-C33E-A21E99F09377}"/>
              </a:ext>
            </a:extLst>
          </p:cNvPr>
          <p:cNvSpPr>
            <a:spLocks noGrp="1"/>
          </p:cNvSpPr>
          <p:nvPr>
            <p:ph type="sldNum" sz="quarter" idx="12"/>
          </p:nvPr>
        </p:nvSpPr>
        <p:spPr/>
        <p:txBody>
          <a:bodyPr/>
          <a:lstStyle/>
          <a:p>
            <a:fld id="{A64BDBCD-C509-4B60-AB0F-A461878E83CB}" type="slidenum">
              <a:rPr lang="en-US" smtClean="0"/>
              <a:t>‹#›</a:t>
            </a:fld>
            <a:endParaRPr lang="en-US"/>
          </a:p>
        </p:txBody>
      </p:sp>
    </p:spTree>
    <p:extLst>
      <p:ext uri="{BB962C8B-B14F-4D97-AF65-F5344CB8AC3E}">
        <p14:creationId xmlns:p14="http://schemas.microsoft.com/office/powerpoint/2010/main" val="25669339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8B4CD-7127-5157-FFE0-7494EEC2F26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A6182D9-6B9B-794F-D4B3-0A7D1FECB5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FC9EA45-B9AA-4424-9306-0A406395587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07EEEA2-568E-FE4C-0468-DB7812A9181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0D31B61-5D34-E3D7-51F5-08EAF7B6263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188AFE2-2C58-A38A-9065-F27B50AF1B66}"/>
              </a:ext>
            </a:extLst>
          </p:cNvPr>
          <p:cNvSpPr>
            <a:spLocks noGrp="1"/>
          </p:cNvSpPr>
          <p:nvPr>
            <p:ph type="dt" sz="half" idx="10"/>
          </p:nvPr>
        </p:nvSpPr>
        <p:spPr/>
        <p:txBody>
          <a:bodyPr/>
          <a:lstStyle/>
          <a:p>
            <a:fld id="{2BCF07F3-9923-4BFB-994C-94F67EED5F14}" type="datetimeFigureOut">
              <a:rPr lang="en-US" smtClean="0"/>
              <a:t>2026-10-12</a:t>
            </a:fld>
            <a:endParaRPr lang="en-US"/>
          </a:p>
        </p:txBody>
      </p:sp>
      <p:sp>
        <p:nvSpPr>
          <p:cNvPr id="8" name="Footer Placeholder 7">
            <a:extLst>
              <a:ext uri="{FF2B5EF4-FFF2-40B4-BE49-F238E27FC236}">
                <a16:creationId xmlns:a16="http://schemas.microsoft.com/office/drawing/2014/main" id="{B89DA74A-CD0A-C7CB-6140-5C7F6016F7F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5F2DEA8-0167-3291-CEB4-2614B530BFA5}"/>
              </a:ext>
            </a:extLst>
          </p:cNvPr>
          <p:cNvSpPr>
            <a:spLocks noGrp="1"/>
          </p:cNvSpPr>
          <p:nvPr>
            <p:ph type="sldNum" sz="quarter" idx="12"/>
          </p:nvPr>
        </p:nvSpPr>
        <p:spPr/>
        <p:txBody>
          <a:bodyPr/>
          <a:lstStyle/>
          <a:p>
            <a:fld id="{A64BDBCD-C509-4B60-AB0F-A461878E83CB}" type="slidenum">
              <a:rPr lang="en-US" smtClean="0"/>
              <a:t>‹#›</a:t>
            </a:fld>
            <a:endParaRPr lang="en-US"/>
          </a:p>
        </p:txBody>
      </p:sp>
    </p:spTree>
    <p:extLst>
      <p:ext uri="{BB962C8B-B14F-4D97-AF65-F5344CB8AC3E}">
        <p14:creationId xmlns:p14="http://schemas.microsoft.com/office/powerpoint/2010/main" val="39172052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F33C0-AB2B-EF74-1063-A78521A9FC9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48464B6-FDAC-9447-A09E-8584CFDB1E1D}"/>
              </a:ext>
            </a:extLst>
          </p:cNvPr>
          <p:cNvSpPr>
            <a:spLocks noGrp="1"/>
          </p:cNvSpPr>
          <p:nvPr>
            <p:ph type="dt" sz="half" idx="10"/>
          </p:nvPr>
        </p:nvSpPr>
        <p:spPr/>
        <p:txBody>
          <a:bodyPr/>
          <a:lstStyle/>
          <a:p>
            <a:fld id="{2BCF07F3-9923-4BFB-994C-94F67EED5F14}" type="datetimeFigureOut">
              <a:rPr lang="en-US" smtClean="0"/>
              <a:t>2026-10-12</a:t>
            </a:fld>
            <a:endParaRPr lang="en-US"/>
          </a:p>
        </p:txBody>
      </p:sp>
      <p:sp>
        <p:nvSpPr>
          <p:cNvPr id="4" name="Footer Placeholder 3">
            <a:extLst>
              <a:ext uri="{FF2B5EF4-FFF2-40B4-BE49-F238E27FC236}">
                <a16:creationId xmlns:a16="http://schemas.microsoft.com/office/drawing/2014/main" id="{88799FD9-99D3-685A-D1EB-471C629D1CA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8BA28B3-CE65-3CE3-0D12-D6B94DDF7B7B}"/>
              </a:ext>
            </a:extLst>
          </p:cNvPr>
          <p:cNvSpPr>
            <a:spLocks noGrp="1"/>
          </p:cNvSpPr>
          <p:nvPr>
            <p:ph type="sldNum" sz="quarter" idx="12"/>
          </p:nvPr>
        </p:nvSpPr>
        <p:spPr/>
        <p:txBody>
          <a:bodyPr/>
          <a:lstStyle/>
          <a:p>
            <a:fld id="{A64BDBCD-C509-4B60-AB0F-A461878E83CB}" type="slidenum">
              <a:rPr lang="en-US" smtClean="0"/>
              <a:t>‹#›</a:t>
            </a:fld>
            <a:endParaRPr lang="en-US"/>
          </a:p>
        </p:txBody>
      </p:sp>
    </p:spTree>
    <p:extLst>
      <p:ext uri="{BB962C8B-B14F-4D97-AF65-F5344CB8AC3E}">
        <p14:creationId xmlns:p14="http://schemas.microsoft.com/office/powerpoint/2010/main" val="33833592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B1794C-2A72-A354-1725-1A4971006579}"/>
              </a:ext>
            </a:extLst>
          </p:cNvPr>
          <p:cNvSpPr>
            <a:spLocks noGrp="1"/>
          </p:cNvSpPr>
          <p:nvPr>
            <p:ph type="dt" sz="half" idx="10"/>
          </p:nvPr>
        </p:nvSpPr>
        <p:spPr/>
        <p:txBody>
          <a:bodyPr/>
          <a:lstStyle/>
          <a:p>
            <a:fld id="{2BCF07F3-9923-4BFB-994C-94F67EED5F14}" type="datetimeFigureOut">
              <a:rPr lang="en-US" smtClean="0"/>
              <a:t>2026-10-12</a:t>
            </a:fld>
            <a:endParaRPr lang="en-US"/>
          </a:p>
        </p:txBody>
      </p:sp>
      <p:sp>
        <p:nvSpPr>
          <p:cNvPr id="3" name="Footer Placeholder 2">
            <a:extLst>
              <a:ext uri="{FF2B5EF4-FFF2-40B4-BE49-F238E27FC236}">
                <a16:creationId xmlns:a16="http://schemas.microsoft.com/office/drawing/2014/main" id="{E1676461-4649-78A0-D5BE-BA24E766265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B83F526-8A11-7EE4-D64D-0D14E75563E2}"/>
              </a:ext>
            </a:extLst>
          </p:cNvPr>
          <p:cNvSpPr>
            <a:spLocks noGrp="1"/>
          </p:cNvSpPr>
          <p:nvPr>
            <p:ph type="sldNum" sz="quarter" idx="12"/>
          </p:nvPr>
        </p:nvSpPr>
        <p:spPr/>
        <p:txBody>
          <a:bodyPr/>
          <a:lstStyle/>
          <a:p>
            <a:fld id="{A64BDBCD-C509-4B60-AB0F-A461878E83CB}" type="slidenum">
              <a:rPr lang="en-US" smtClean="0"/>
              <a:t>‹#›</a:t>
            </a:fld>
            <a:endParaRPr lang="en-US"/>
          </a:p>
        </p:txBody>
      </p:sp>
    </p:spTree>
    <p:extLst>
      <p:ext uri="{BB962C8B-B14F-4D97-AF65-F5344CB8AC3E}">
        <p14:creationId xmlns:p14="http://schemas.microsoft.com/office/powerpoint/2010/main" val="33372114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58045-49EE-D1A8-2FB9-45A6B801B1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0BC8E94-84DF-401D-6F5F-96F9980AB8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34CF2D2-DC43-EAAC-4EF1-A750EF0DB2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247F8DD-D786-2A7B-E74E-BEC556E9501F}"/>
              </a:ext>
            </a:extLst>
          </p:cNvPr>
          <p:cNvSpPr>
            <a:spLocks noGrp="1"/>
          </p:cNvSpPr>
          <p:nvPr>
            <p:ph type="dt" sz="half" idx="10"/>
          </p:nvPr>
        </p:nvSpPr>
        <p:spPr/>
        <p:txBody>
          <a:bodyPr/>
          <a:lstStyle/>
          <a:p>
            <a:fld id="{2BCF07F3-9923-4BFB-994C-94F67EED5F14}" type="datetimeFigureOut">
              <a:rPr lang="en-US" smtClean="0"/>
              <a:t>2026-10-12</a:t>
            </a:fld>
            <a:endParaRPr lang="en-US"/>
          </a:p>
        </p:txBody>
      </p:sp>
      <p:sp>
        <p:nvSpPr>
          <p:cNvPr id="6" name="Footer Placeholder 5">
            <a:extLst>
              <a:ext uri="{FF2B5EF4-FFF2-40B4-BE49-F238E27FC236}">
                <a16:creationId xmlns:a16="http://schemas.microsoft.com/office/drawing/2014/main" id="{7AE8E868-094A-D55C-3CEA-CD773B5B6B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ABA3073-A882-0EAC-795C-AB023987E984}"/>
              </a:ext>
            </a:extLst>
          </p:cNvPr>
          <p:cNvSpPr>
            <a:spLocks noGrp="1"/>
          </p:cNvSpPr>
          <p:nvPr>
            <p:ph type="sldNum" sz="quarter" idx="12"/>
          </p:nvPr>
        </p:nvSpPr>
        <p:spPr/>
        <p:txBody>
          <a:bodyPr/>
          <a:lstStyle/>
          <a:p>
            <a:fld id="{A64BDBCD-C509-4B60-AB0F-A461878E83CB}" type="slidenum">
              <a:rPr lang="en-US" smtClean="0"/>
              <a:t>‹#›</a:t>
            </a:fld>
            <a:endParaRPr lang="en-US"/>
          </a:p>
        </p:txBody>
      </p:sp>
    </p:spTree>
    <p:extLst>
      <p:ext uri="{BB962C8B-B14F-4D97-AF65-F5344CB8AC3E}">
        <p14:creationId xmlns:p14="http://schemas.microsoft.com/office/powerpoint/2010/main" val="2799104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D11F0-1831-0A19-E88B-B4D864AC18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91C683-0F4D-27A8-5BFB-E519F662E5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41D2C0B-091F-9613-C38F-BAD3BBE0E7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539D0F-7B13-5EC8-8494-F732DAA883E3}"/>
              </a:ext>
            </a:extLst>
          </p:cNvPr>
          <p:cNvSpPr>
            <a:spLocks noGrp="1"/>
          </p:cNvSpPr>
          <p:nvPr>
            <p:ph type="dt" sz="half" idx="10"/>
          </p:nvPr>
        </p:nvSpPr>
        <p:spPr/>
        <p:txBody>
          <a:bodyPr/>
          <a:lstStyle/>
          <a:p>
            <a:fld id="{2BCF07F3-9923-4BFB-994C-94F67EED5F14}" type="datetimeFigureOut">
              <a:rPr lang="en-US" smtClean="0"/>
              <a:t>2026-10-12</a:t>
            </a:fld>
            <a:endParaRPr lang="en-US"/>
          </a:p>
        </p:txBody>
      </p:sp>
      <p:sp>
        <p:nvSpPr>
          <p:cNvPr id="6" name="Footer Placeholder 5">
            <a:extLst>
              <a:ext uri="{FF2B5EF4-FFF2-40B4-BE49-F238E27FC236}">
                <a16:creationId xmlns:a16="http://schemas.microsoft.com/office/drawing/2014/main" id="{C65D7297-75F8-C7E3-488E-3EEDADD27D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A195008-9BE8-293F-D2E3-834A43AE3515}"/>
              </a:ext>
            </a:extLst>
          </p:cNvPr>
          <p:cNvSpPr>
            <a:spLocks noGrp="1"/>
          </p:cNvSpPr>
          <p:nvPr>
            <p:ph type="sldNum" sz="quarter" idx="12"/>
          </p:nvPr>
        </p:nvSpPr>
        <p:spPr/>
        <p:txBody>
          <a:bodyPr/>
          <a:lstStyle/>
          <a:p>
            <a:fld id="{A64BDBCD-C509-4B60-AB0F-A461878E83CB}" type="slidenum">
              <a:rPr lang="en-US" smtClean="0"/>
              <a:t>‹#›</a:t>
            </a:fld>
            <a:endParaRPr lang="en-US"/>
          </a:p>
        </p:txBody>
      </p:sp>
    </p:spTree>
    <p:extLst>
      <p:ext uri="{BB962C8B-B14F-4D97-AF65-F5344CB8AC3E}">
        <p14:creationId xmlns:p14="http://schemas.microsoft.com/office/powerpoint/2010/main" val="26351678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7D233-4CD6-605E-8DE6-ED1A83AF933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AEC38EE-7648-D57F-511B-FF57E93D866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0DF907-180C-81EA-30AA-936CCEF5F4DC}"/>
              </a:ext>
            </a:extLst>
          </p:cNvPr>
          <p:cNvSpPr>
            <a:spLocks noGrp="1"/>
          </p:cNvSpPr>
          <p:nvPr>
            <p:ph type="dt" sz="half" idx="10"/>
          </p:nvPr>
        </p:nvSpPr>
        <p:spPr/>
        <p:txBody>
          <a:bodyPr/>
          <a:lstStyle/>
          <a:p>
            <a:fld id="{2BCF07F3-9923-4BFB-994C-94F67EED5F14}" type="datetimeFigureOut">
              <a:rPr lang="en-US" smtClean="0"/>
              <a:t>2026-10-12</a:t>
            </a:fld>
            <a:endParaRPr lang="en-US"/>
          </a:p>
        </p:txBody>
      </p:sp>
      <p:sp>
        <p:nvSpPr>
          <p:cNvPr id="5" name="Footer Placeholder 4">
            <a:extLst>
              <a:ext uri="{FF2B5EF4-FFF2-40B4-BE49-F238E27FC236}">
                <a16:creationId xmlns:a16="http://schemas.microsoft.com/office/drawing/2014/main" id="{39DFFF50-3489-F95B-DAC8-FF1D522E90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565503-A085-C646-5984-4689B3F0F5B9}"/>
              </a:ext>
            </a:extLst>
          </p:cNvPr>
          <p:cNvSpPr>
            <a:spLocks noGrp="1"/>
          </p:cNvSpPr>
          <p:nvPr>
            <p:ph type="sldNum" sz="quarter" idx="12"/>
          </p:nvPr>
        </p:nvSpPr>
        <p:spPr/>
        <p:txBody>
          <a:bodyPr/>
          <a:lstStyle/>
          <a:p>
            <a:fld id="{A64BDBCD-C509-4B60-AB0F-A461878E83CB}" type="slidenum">
              <a:rPr lang="en-US" smtClean="0"/>
              <a:t>‹#›</a:t>
            </a:fld>
            <a:endParaRPr lang="en-US"/>
          </a:p>
        </p:txBody>
      </p:sp>
    </p:spTree>
    <p:extLst>
      <p:ext uri="{BB962C8B-B14F-4D97-AF65-F5344CB8AC3E}">
        <p14:creationId xmlns:p14="http://schemas.microsoft.com/office/powerpoint/2010/main" val="16691645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689A75-8B73-B444-F933-F1F77BE7867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7DFC59D-DBA5-48C6-B9C0-5C9F9D8C5FD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437A0F-8529-CF49-5B48-586DAE568DCA}"/>
              </a:ext>
            </a:extLst>
          </p:cNvPr>
          <p:cNvSpPr>
            <a:spLocks noGrp="1"/>
          </p:cNvSpPr>
          <p:nvPr>
            <p:ph type="dt" sz="half" idx="10"/>
          </p:nvPr>
        </p:nvSpPr>
        <p:spPr/>
        <p:txBody>
          <a:bodyPr/>
          <a:lstStyle/>
          <a:p>
            <a:fld id="{2BCF07F3-9923-4BFB-994C-94F67EED5F14}" type="datetimeFigureOut">
              <a:rPr lang="en-US" smtClean="0"/>
              <a:t>2026-10-12</a:t>
            </a:fld>
            <a:endParaRPr lang="en-US"/>
          </a:p>
        </p:txBody>
      </p:sp>
      <p:sp>
        <p:nvSpPr>
          <p:cNvPr id="5" name="Footer Placeholder 4">
            <a:extLst>
              <a:ext uri="{FF2B5EF4-FFF2-40B4-BE49-F238E27FC236}">
                <a16:creationId xmlns:a16="http://schemas.microsoft.com/office/drawing/2014/main" id="{31D22764-5B5D-58B9-24C5-E858DB0E13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EC72CE-B7B6-1D12-C7DD-57128BF38A8B}"/>
              </a:ext>
            </a:extLst>
          </p:cNvPr>
          <p:cNvSpPr>
            <a:spLocks noGrp="1"/>
          </p:cNvSpPr>
          <p:nvPr>
            <p:ph type="sldNum" sz="quarter" idx="12"/>
          </p:nvPr>
        </p:nvSpPr>
        <p:spPr/>
        <p:txBody>
          <a:bodyPr/>
          <a:lstStyle/>
          <a:p>
            <a:fld id="{A64BDBCD-C509-4B60-AB0F-A461878E83CB}" type="slidenum">
              <a:rPr lang="en-US" smtClean="0"/>
              <a:t>‹#›</a:t>
            </a:fld>
            <a:endParaRPr lang="en-US"/>
          </a:p>
        </p:txBody>
      </p:sp>
    </p:spTree>
    <p:extLst>
      <p:ext uri="{BB962C8B-B14F-4D97-AF65-F5344CB8AC3E}">
        <p14:creationId xmlns:p14="http://schemas.microsoft.com/office/powerpoint/2010/main" val="33009470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19D2E1-E596-5BEF-ED6D-A0074E28430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61C183A-0B90-87F8-CC59-1E7E4AE7B6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1634A0-0331-538B-DE1E-DB61A765D1F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BCF07F3-9923-4BFB-994C-94F67EED5F14}" type="datetimeFigureOut">
              <a:rPr lang="en-US" smtClean="0"/>
              <a:t>2026-10-12</a:t>
            </a:fld>
            <a:endParaRPr lang="en-US"/>
          </a:p>
        </p:txBody>
      </p:sp>
      <p:sp>
        <p:nvSpPr>
          <p:cNvPr id="5" name="Footer Placeholder 4">
            <a:extLst>
              <a:ext uri="{FF2B5EF4-FFF2-40B4-BE49-F238E27FC236}">
                <a16:creationId xmlns:a16="http://schemas.microsoft.com/office/drawing/2014/main" id="{8D6E186D-77FD-5109-B127-A682F7BD0A6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E005939-AB64-D1A5-07E2-5890873D2E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64BDBCD-C509-4B60-AB0F-A461878E83CB}" type="slidenum">
              <a:rPr lang="en-US" smtClean="0"/>
              <a:t>‹#›</a:t>
            </a:fld>
            <a:endParaRPr lang="en-US"/>
          </a:p>
        </p:txBody>
      </p:sp>
    </p:spTree>
    <p:extLst>
      <p:ext uri="{BB962C8B-B14F-4D97-AF65-F5344CB8AC3E}">
        <p14:creationId xmlns:p14="http://schemas.microsoft.com/office/powerpoint/2010/main" val="5289046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D78A490-0EC5-1BA8-8279-749C734CC39A}"/>
              </a:ext>
            </a:extLst>
          </p:cNvPr>
          <p:cNvSpPr/>
          <p:nvPr/>
        </p:nvSpPr>
        <p:spPr>
          <a:xfrm>
            <a:off x="0" y="-44246"/>
            <a:ext cx="12192000" cy="6858000"/>
          </a:xfrm>
          <a:prstGeom prst="rect">
            <a:avLst/>
          </a:prstGeom>
          <a:solidFill>
            <a:srgbClr val="06315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012E9C98-9A40-C1A5-C49E-3819DAAC17BE}"/>
              </a:ext>
            </a:extLst>
          </p:cNvPr>
          <p:cNvSpPr txBox="1"/>
          <p:nvPr/>
        </p:nvSpPr>
        <p:spPr>
          <a:xfrm>
            <a:off x="3671248" y="600501"/>
            <a:ext cx="5158853" cy="646331"/>
          </a:xfrm>
          <a:prstGeom prst="rect">
            <a:avLst/>
          </a:prstGeom>
          <a:noFill/>
        </p:spPr>
        <p:txBody>
          <a:bodyPr wrap="square" rtlCol="0">
            <a:spAutoFit/>
          </a:bodyPr>
          <a:lstStyle/>
          <a:p>
            <a:pPr algn="ctr"/>
            <a:r>
              <a:rPr lang="en-US" sz="1800" kern="100" dirty="0">
                <a:solidFill>
                  <a:srgbClr val="F7F6F2"/>
                </a:solidFill>
                <a:effectLst/>
                <a:latin typeface="Georgia" panose="02040502050405020303" pitchFamily="18" charset="0"/>
                <a:ea typeface="Calibri" panose="020F0502020204030204" pitchFamily="34" charset="0"/>
              </a:rPr>
              <a:t>TITANIC DATA ANALYISIS REPORT</a:t>
            </a:r>
            <a:endParaRPr lang="en-US" sz="1800" kern="100" dirty="0">
              <a:solidFill>
                <a:srgbClr val="F7F6F2"/>
              </a:solidFill>
              <a:effectLst/>
              <a:latin typeface="Calibri" panose="020F0502020204030204" pitchFamily="34" charset="0"/>
              <a:ea typeface="Calibri" panose="020F0502020204030204" pitchFamily="34" charset="0"/>
            </a:endParaRPr>
          </a:p>
          <a:p>
            <a:pPr algn="ctr"/>
            <a:endParaRPr lang="en-US" dirty="0">
              <a:solidFill>
                <a:srgbClr val="F7F6F2"/>
              </a:solidFill>
            </a:endParaRPr>
          </a:p>
        </p:txBody>
      </p:sp>
      <p:sp>
        <p:nvSpPr>
          <p:cNvPr id="6" name="TextBox 5">
            <a:extLst>
              <a:ext uri="{FF2B5EF4-FFF2-40B4-BE49-F238E27FC236}">
                <a16:creationId xmlns:a16="http://schemas.microsoft.com/office/drawing/2014/main" id="{7713B0DC-4C20-84B9-15B4-352355B2BE6C}"/>
              </a:ext>
            </a:extLst>
          </p:cNvPr>
          <p:cNvSpPr txBox="1"/>
          <p:nvPr/>
        </p:nvSpPr>
        <p:spPr>
          <a:xfrm>
            <a:off x="3516573" y="1870797"/>
            <a:ext cx="5158853" cy="646331"/>
          </a:xfrm>
          <a:prstGeom prst="rect">
            <a:avLst/>
          </a:prstGeom>
          <a:noFill/>
        </p:spPr>
        <p:txBody>
          <a:bodyPr wrap="square" rtlCol="0">
            <a:spAutoFit/>
          </a:bodyPr>
          <a:lstStyle/>
          <a:p>
            <a:pPr algn="ctr"/>
            <a:r>
              <a:rPr lang="en-US" sz="1800" kern="100" dirty="0">
                <a:solidFill>
                  <a:srgbClr val="F7F6F2"/>
                </a:solidFill>
                <a:effectLst/>
                <a:latin typeface="Georgia" panose="02040502050405020303" pitchFamily="18" charset="0"/>
                <a:ea typeface="Calibri" panose="020F0502020204030204" pitchFamily="34" charset="0"/>
              </a:rPr>
              <a:t>Presented by</a:t>
            </a:r>
            <a:endParaRPr lang="en-US" sz="1800" kern="100" dirty="0">
              <a:solidFill>
                <a:srgbClr val="F7F6F2"/>
              </a:solidFill>
              <a:effectLst/>
              <a:latin typeface="Calibri" panose="020F0502020204030204" pitchFamily="34" charset="0"/>
              <a:ea typeface="Calibri" panose="020F0502020204030204" pitchFamily="34" charset="0"/>
            </a:endParaRPr>
          </a:p>
          <a:p>
            <a:pPr algn="ctr"/>
            <a:endParaRPr lang="en-US" dirty="0"/>
          </a:p>
        </p:txBody>
      </p:sp>
      <p:sp>
        <p:nvSpPr>
          <p:cNvPr id="7" name="TextBox 6">
            <a:extLst>
              <a:ext uri="{FF2B5EF4-FFF2-40B4-BE49-F238E27FC236}">
                <a16:creationId xmlns:a16="http://schemas.microsoft.com/office/drawing/2014/main" id="{F6F30CA7-7B2D-30AA-68FF-726F8ECFA032}"/>
              </a:ext>
            </a:extLst>
          </p:cNvPr>
          <p:cNvSpPr txBox="1"/>
          <p:nvPr/>
        </p:nvSpPr>
        <p:spPr>
          <a:xfrm>
            <a:off x="3671248" y="3059668"/>
            <a:ext cx="5158853" cy="369332"/>
          </a:xfrm>
          <a:prstGeom prst="rect">
            <a:avLst/>
          </a:prstGeom>
          <a:noFill/>
        </p:spPr>
        <p:txBody>
          <a:bodyPr wrap="square" rtlCol="0">
            <a:spAutoFit/>
          </a:bodyPr>
          <a:lstStyle/>
          <a:p>
            <a:pPr algn="ctr"/>
            <a:r>
              <a:rPr lang="en-US" sz="1800" kern="100" dirty="0">
                <a:solidFill>
                  <a:srgbClr val="F7F6F2"/>
                </a:solidFill>
                <a:effectLst/>
                <a:latin typeface="Georgia" panose="02040502050405020303" pitchFamily="18" charset="0"/>
                <a:ea typeface="Calibri" panose="020F0502020204030204" pitchFamily="34" charset="0"/>
              </a:rPr>
              <a:t>OVIE OKPAKA</a:t>
            </a:r>
            <a:endParaRPr lang="en-US" sz="1800" kern="100" dirty="0">
              <a:solidFill>
                <a:srgbClr val="F7F6F2"/>
              </a:solidFill>
              <a:effectLst/>
              <a:latin typeface="Calibri" panose="020F0502020204030204" pitchFamily="34" charset="0"/>
              <a:ea typeface="Calibri" panose="020F0502020204030204" pitchFamily="34" charset="0"/>
            </a:endParaRPr>
          </a:p>
        </p:txBody>
      </p:sp>
      <p:sp>
        <p:nvSpPr>
          <p:cNvPr id="8" name="TextBox 7">
            <a:extLst>
              <a:ext uri="{FF2B5EF4-FFF2-40B4-BE49-F238E27FC236}">
                <a16:creationId xmlns:a16="http://schemas.microsoft.com/office/drawing/2014/main" id="{F4EB45CA-27FF-C40B-D148-A334CE3F40AF}"/>
              </a:ext>
            </a:extLst>
          </p:cNvPr>
          <p:cNvSpPr txBox="1"/>
          <p:nvPr/>
        </p:nvSpPr>
        <p:spPr>
          <a:xfrm>
            <a:off x="3930555" y="3867750"/>
            <a:ext cx="4744871" cy="369332"/>
          </a:xfrm>
          <a:prstGeom prst="rect">
            <a:avLst/>
          </a:prstGeom>
          <a:noFill/>
        </p:spPr>
        <p:txBody>
          <a:bodyPr wrap="square" rtlCol="0">
            <a:spAutoFit/>
          </a:bodyPr>
          <a:lstStyle/>
          <a:p>
            <a:pPr algn="ctr"/>
            <a:r>
              <a:rPr lang="en-US" sz="1800" kern="100" dirty="0">
                <a:solidFill>
                  <a:srgbClr val="F7F6F2"/>
                </a:solidFill>
                <a:effectLst/>
                <a:latin typeface="Georgia" panose="02040502050405020303" pitchFamily="18" charset="0"/>
                <a:ea typeface="Calibri" panose="020F0502020204030204" pitchFamily="34" charset="0"/>
              </a:rPr>
              <a:t>JUNE 2026</a:t>
            </a:r>
            <a:endParaRPr lang="en-US" sz="1800" kern="100" dirty="0">
              <a:solidFill>
                <a:srgbClr val="F7F6F2"/>
              </a:solidFill>
              <a:effectLst/>
              <a:latin typeface="Calibri" panose="020F0502020204030204" pitchFamily="34" charset="0"/>
              <a:ea typeface="Calibri" panose="020F0502020204030204" pitchFamily="34" charset="0"/>
            </a:endParaRPr>
          </a:p>
        </p:txBody>
      </p:sp>
      <p:sp>
        <p:nvSpPr>
          <p:cNvPr id="9" name="TextBox 8">
            <a:extLst>
              <a:ext uri="{FF2B5EF4-FFF2-40B4-BE49-F238E27FC236}">
                <a16:creationId xmlns:a16="http://schemas.microsoft.com/office/drawing/2014/main" id="{5C14DB37-3FB1-31F4-5DB2-4B4CCF5B0E0A}"/>
              </a:ext>
            </a:extLst>
          </p:cNvPr>
          <p:cNvSpPr txBox="1"/>
          <p:nvPr/>
        </p:nvSpPr>
        <p:spPr>
          <a:xfrm>
            <a:off x="3342968" y="4446875"/>
            <a:ext cx="5869271" cy="794961"/>
          </a:xfrm>
          <a:prstGeom prst="rect">
            <a:avLst/>
          </a:prstGeom>
          <a:noFill/>
        </p:spPr>
        <p:txBody>
          <a:bodyPr wrap="square" rtlCol="0">
            <a:spAutoFit/>
          </a:bodyPr>
          <a:lstStyle/>
          <a:p>
            <a:pPr marL="6350" marR="0" indent="-6350" algn="ctr">
              <a:lnSpc>
                <a:spcPct val="112000"/>
              </a:lnSpc>
              <a:spcBef>
                <a:spcPts val="0"/>
              </a:spcBef>
              <a:spcAft>
                <a:spcPts val="860"/>
              </a:spcAft>
            </a:pPr>
            <a:r>
              <a:rPr lang="en-US" sz="1800" kern="100" dirty="0">
                <a:solidFill>
                  <a:schemeClr val="bg1">
                    <a:lumMod val="95000"/>
                  </a:schemeClr>
                </a:solidFill>
                <a:effectLst/>
                <a:latin typeface="Georgia" panose="02040502050405020303" pitchFamily="18" charset="0"/>
                <a:ea typeface="Calibri" panose="020F0502020204030204" pitchFamily="34" charset="0"/>
              </a:rPr>
              <a:t>LINKEDIN: </a:t>
            </a:r>
            <a:endParaRPr lang="en-US" sz="1800" kern="100" dirty="0">
              <a:solidFill>
                <a:schemeClr val="bg1">
                  <a:lumMod val="95000"/>
                </a:schemeClr>
              </a:solidFill>
              <a:effectLst/>
              <a:latin typeface="Calibri" panose="020F0502020204030204" pitchFamily="34" charset="0"/>
              <a:ea typeface="Calibri" panose="020F0502020204030204" pitchFamily="34" charset="0"/>
            </a:endParaRPr>
          </a:p>
          <a:p>
            <a:pPr algn="ctr"/>
            <a:r>
              <a:rPr lang="en-US" dirty="0">
                <a:solidFill>
                  <a:schemeClr val="bg1">
                    <a:lumMod val="95000"/>
                  </a:schemeClr>
                </a:solidFill>
              </a:rPr>
              <a:t>https://www.linkedin.com/in/ovieokpaka/</a:t>
            </a:r>
          </a:p>
        </p:txBody>
      </p:sp>
    </p:spTree>
    <p:extLst>
      <p:ext uri="{BB962C8B-B14F-4D97-AF65-F5344CB8AC3E}">
        <p14:creationId xmlns:p14="http://schemas.microsoft.com/office/powerpoint/2010/main" val="2737676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D78A490-0EC5-1BA8-8279-749C734CC39A}"/>
              </a:ext>
            </a:extLst>
          </p:cNvPr>
          <p:cNvSpPr/>
          <p:nvPr/>
        </p:nvSpPr>
        <p:spPr>
          <a:xfrm>
            <a:off x="0" y="0"/>
            <a:ext cx="12192000" cy="6858000"/>
          </a:xfrm>
          <a:prstGeom prst="rect">
            <a:avLst/>
          </a:prstGeom>
          <a:solidFill>
            <a:srgbClr val="06315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01F6DF11-8763-91A6-46E1-A79BBBACC74F}"/>
              </a:ext>
            </a:extLst>
          </p:cNvPr>
          <p:cNvSpPr txBox="1"/>
          <p:nvPr/>
        </p:nvSpPr>
        <p:spPr>
          <a:xfrm>
            <a:off x="3657600" y="313899"/>
            <a:ext cx="4717143" cy="369332"/>
          </a:xfrm>
          <a:prstGeom prst="rect">
            <a:avLst/>
          </a:prstGeom>
          <a:noFill/>
        </p:spPr>
        <p:txBody>
          <a:bodyPr wrap="square" rtlCol="0">
            <a:spAutoFit/>
          </a:bodyPr>
          <a:lstStyle/>
          <a:p>
            <a:pPr algn="ctr"/>
            <a:r>
              <a:rPr lang="en-US" dirty="0">
                <a:solidFill>
                  <a:srgbClr val="F7F6F2"/>
                </a:solidFill>
                <a:latin typeface="Georgia" panose="02040502050405020303" pitchFamily="18" charset="0"/>
              </a:rPr>
              <a:t>INTRODUCTION</a:t>
            </a:r>
          </a:p>
        </p:txBody>
      </p:sp>
      <p:sp>
        <p:nvSpPr>
          <p:cNvPr id="3" name="TextBox 2">
            <a:extLst>
              <a:ext uri="{FF2B5EF4-FFF2-40B4-BE49-F238E27FC236}">
                <a16:creationId xmlns:a16="http://schemas.microsoft.com/office/drawing/2014/main" id="{EF820F15-9851-A48E-6163-D0BDE556A58C}"/>
              </a:ext>
            </a:extLst>
          </p:cNvPr>
          <p:cNvSpPr txBox="1"/>
          <p:nvPr/>
        </p:nvSpPr>
        <p:spPr>
          <a:xfrm>
            <a:off x="2456597" y="1228299"/>
            <a:ext cx="7574507" cy="923330"/>
          </a:xfrm>
          <a:prstGeom prst="rect">
            <a:avLst/>
          </a:prstGeom>
          <a:noFill/>
        </p:spPr>
        <p:txBody>
          <a:bodyPr wrap="square" rtlCol="0">
            <a:spAutoFit/>
          </a:bodyPr>
          <a:lstStyle/>
          <a:p>
            <a:r>
              <a:rPr lang="en-US" sz="1800" kern="100" dirty="0">
                <a:solidFill>
                  <a:srgbClr val="F7F6F2"/>
                </a:solidFill>
                <a:effectLst/>
                <a:latin typeface="Georgia" panose="02040502050405020303" pitchFamily="18" charset="0"/>
                <a:ea typeface="Calibri" panose="020F0502020204030204" pitchFamily="34" charset="0"/>
              </a:rPr>
              <a:t>The Titanic Passenger Analysis was developed to examine passenger demographics, survival patterns, travel class distribution, embarkation locations, and family relationships among passengers aboard the Titanic.</a:t>
            </a:r>
            <a:endParaRPr lang="en-US" sz="1800" kern="100" dirty="0">
              <a:solidFill>
                <a:srgbClr val="F7F6F2"/>
              </a:solidFill>
              <a:effectLst/>
              <a:latin typeface="Calibri" panose="020F0502020204030204" pitchFamily="34" charset="0"/>
              <a:ea typeface="Calibri" panose="020F0502020204030204" pitchFamily="34" charset="0"/>
            </a:endParaRPr>
          </a:p>
        </p:txBody>
      </p:sp>
      <p:sp>
        <p:nvSpPr>
          <p:cNvPr id="5" name="TextBox 4">
            <a:extLst>
              <a:ext uri="{FF2B5EF4-FFF2-40B4-BE49-F238E27FC236}">
                <a16:creationId xmlns:a16="http://schemas.microsoft.com/office/drawing/2014/main" id="{662EC182-B670-2DA0-8B80-B06985F97CB1}"/>
              </a:ext>
            </a:extLst>
          </p:cNvPr>
          <p:cNvSpPr txBox="1"/>
          <p:nvPr/>
        </p:nvSpPr>
        <p:spPr>
          <a:xfrm>
            <a:off x="2552132" y="2696697"/>
            <a:ext cx="8297838" cy="1949765"/>
          </a:xfrm>
          <a:prstGeom prst="rect">
            <a:avLst/>
          </a:prstGeom>
          <a:noFill/>
        </p:spPr>
        <p:txBody>
          <a:bodyPr wrap="square" rtlCol="0">
            <a:spAutoFit/>
          </a:bodyPr>
          <a:lstStyle/>
          <a:p>
            <a:pPr marL="6350" marR="0" indent="-6350">
              <a:lnSpc>
                <a:spcPct val="112000"/>
              </a:lnSpc>
              <a:spcBef>
                <a:spcPts val="0"/>
              </a:spcBef>
              <a:spcAft>
                <a:spcPts val="860"/>
              </a:spcAft>
            </a:pPr>
            <a:r>
              <a:rPr lang="en-US" sz="1800" b="1" kern="100" dirty="0">
                <a:solidFill>
                  <a:srgbClr val="F7F6F2"/>
                </a:solidFill>
                <a:effectLst/>
                <a:latin typeface="Georgia" panose="02040502050405020303" pitchFamily="18" charset="0"/>
                <a:ea typeface="Calibri" panose="020F0502020204030204" pitchFamily="34" charset="0"/>
              </a:rPr>
              <a:t>Dataset Overview</a:t>
            </a:r>
            <a:endParaRPr lang="en-US" sz="1800" kern="100" dirty="0">
              <a:solidFill>
                <a:srgbClr val="F7F6F2"/>
              </a:solidFill>
              <a:effectLst/>
              <a:latin typeface="Calibri" panose="020F0502020204030204" pitchFamily="34" charset="0"/>
              <a:ea typeface="Calibri" panose="020F0502020204030204" pitchFamily="34" charset="0"/>
            </a:endParaRPr>
          </a:p>
          <a:p>
            <a:pPr marL="342900" marR="0" lvl="0" indent="-342900">
              <a:lnSpc>
                <a:spcPct val="107000"/>
              </a:lnSpc>
              <a:spcBef>
                <a:spcPts val="0"/>
              </a:spcBef>
              <a:spcAft>
                <a:spcPts val="0"/>
              </a:spcAft>
              <a:buFont typeface="Symbol" panose="05050102010706020507" pitchFamily="18" charset="2"/>
              <a:buChar char=""/>
            </a:pPr>
            <a:r>
              <a:rPr lang="en-US" sz="1800" kern="100" dirty="0">
                <a:solidFill>
                  <a:srgbClr val="F7F6F2"/>
                </a:solidFill>
                <a:effectLst/>
                <a:latin typeface="Georgia" panose="02040502050405020303" pitchFamily="18" charset="0"/>
                <a:ea typeface="Aptos" panose="020B0004020202020204" pitchFamily="34" charset="0"/>
                <a:cs typeface="Times New Roman" panose="02020603050405020304" pitchFamily="18" charset="0"/>
              </a:rPr>
              <a:t>Total Passengers: 418</a:t>
            </a:r>
            <a:endParaRPr lang="en-US" sz="1800" kern="100" dirty="0">
              <a:solidFill>
                <a:srgbClr val="F7F6F2"/>
              </a:solidFill>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800" kern="100" dirty="0">
                <a:solidFill>
                  <a:srgbClr val="F7F6F2"/>
                </a:solidFill>
                <a:effectLst/>
                <a:latin typeface="Georgia" panose="02040502050405020303" pitchFamily="18" charset="0"/>
                <a:ea typeface="Aptos" panose="020B0004020202020204" pitchFamily="34" charset="0"/>
                <a:cs typeface="Times New Roman" panose="02020603050405020304" pitchFamily="18" charset="0"/>
              </a:rPr>
              <a:t>Survival Rate: 36.36%</a:t>
            </a:r>
            <a:endParaRPr lang="en-US" sz="1800" kern="100" dirty="0">
              <a:solidFill>
                <a:srgbClr val="F7F6F2"/>
              </a:solidFill>
              <a:effectLst/>
              <a:latin typeface="Aptos" panose="020B0004020202020204" pitchFamily="34" charset="0"/>
              <a:ea typeface="Aptos" panose="020B0004020202020204" pitchFamily="34" charset="0"/>
              <a:cs typeface="Times New Roman" panose="02020603050405020304" pitchFamily="18" charset="0"/>
            </a:endParaRPr>
          </a:p>
          <a:p>
            <a:pPr marL="342900" marR="2865755" lvl="0" indent="-342900">
              <a:lnSpc>
                <a:spcPct val="107000"/>
              </a:lnSpc>
              <a:spcBef>
                <a:spcPts val="0"/>
              </a:spcBef>
              <a:spcAft>
                <a:spcPts val="1980"/>
              </a:spcAft>
              <a:buFont typeface="Symbol" panose="05050102010706020507" pitchFamily="18" charset="2"/>
              <a:buChar char=""/>
            </a:pPr>
            <a:r>
              <a:rPr lang="en-US" sz="1800" kern="100" dirty="0">
                <a:solidFill>
                  <a:srgbClr val="F7F6F2"/>
                </a:solidFill>
                <a:effectLst/>
                <a:latin typeface="Georgia" panose="02040502050405020303" pitchFamily="18" charset="0"/>
                <a:ea typeface="Aptos" panose="020B0004020202020204" pitchFamily="34" charset="0"/>
                <a:cs typeface="Times New Roman" panose="02020603050405020304" pitchFamily="18" charset="0"/>
              </a:rPr>
              <a:t>Passengers with Siblings/Spouses: 134</a:t>
            </a:r>
          </a:p>
          <a:p>
            <a:pPr marL="342900" marR="2865755" lvl="0" indent="-342900">
              <a:lnSpc>
                <a:spcPct val="107000"/>
              </a:lnSpc>
              <a:spcBef>
                <a:spcPts val="0"/>
              </a:spcBef>
              <a:spcAft>
                <a:spcPts val="1980"/>
              </a:spcAft>
              <a:buFont typeface="Symbol" panose="05050102010706020507" pitchFamily="18" charset="2"/>
              <a:buChar char=""/>
            </a:pPr>
            <a:r>
              <a:rPr lang="en-US" sz="1800" kern="100" dirty="0">
                <a:solidFill>
                  <a:srgbClr val="F7F6F2"/>
                </a:solidFill>
                <a:effectLst/>
                <a:latin typeface="Georgia" panose="02040502050405020303" pitchFamily="18" charset="0"/>
                <a:ea typeface="Aptos" panose="020B0004020202020204" pitchFamily="34" charset="0"/>
                <a:cs typeface="Times New Roman" panose="02020603050405020304" pitchFamily="18" charset="0"/>
              </a:rPr>
              <a:t>Average Age: 29.99 years</a:t>
            </a:r>
            <a:endParaRPr lang="en-US" kern="100" dirty="0">
              <a:solidFill>
                <a:srgbClr val="F7F6F2"/>
              </a:solidFill>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42810087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D78A490-0EC5-1BA8-8279-749C734CC39A}"/>
              </a:ext>
            </a:extLst>
          </p:cNvPr>
          <p:cNvSpPr/>
          <p:nvPr/>
        </p:nvSpPr>
        <p:spPr>
          <a:xfrm>
            <a:off x="0" y="0"/>
            <a:ext cx="12192000" cy="6858000"/>
          </a:xfrm>
          <a:prstGeom prst="rect">
            <a:avLst/>
          </a:prstGeom>
          <a:solidFill>
            <a:srgbClr val="06315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A49B722E-9EA1-68ED-4790-7531CA004AFB}"/>
              </a:ext>
            </a:extLst>
          </p:cNvPr>
          <p:cNvSpPr txBox="1"/>
          <p:nvPr/>
        </p:nvSpPr>
        <p:spPr>
          <a:xfrm>
            <a:off x="1078173" y="668740"/>
            <a:ext cx="9580728" cy="3564822"/>
          </a:xfrm>
          <a:prstGeom prst="rect">
            <a:avLst/>
          </a:prstGeom>
          <a:noFill/>
        </p:spPr>
        <p:txBody>
          <a:bodyPr wrap="square" rtlCol="0">
            <a:spAutoFit/>
          </a:bodyPr>
          <a:lstStyle/>
          <a:p>
            <a:pPr marL="0" marR="0" indent="-6350">
              <a:lnSpc>
                <a:spcPct val="112000"/>
              </a:lnSpc>
              <a:spcBef>
                <a:spcPts val="0"/>
              </a:spcBef>
              <a:spcAft>
                <a:spcPts val="860"/>
              </a:spcAft>
            </a:pPr>
            <a:r>
              <a:rPr lang="en-US" sz="1800" b="1" kern="100" dirty="0">
                <a:solidFill>
                  <a:srgbClr val="F7F6F2"/>
                </a:solidFill>
                <a:effectLst/>
                <a:latin typeface="Georgia" panose="02040502050405020303" pitchFamily="18" charset="0"/>
                <a:ea typeface="Calibri" panose="020F0502020204030204" pitchFamily="34" charset="0"/>
              </a:rPr>
              <a:t>Findings:</a:t>
            </a:r>
            <a:endParaRPr lang="en-US" sz="1800" kern="100" dirty="0">
              <a:solidFill>
                <a:srgbClr val="F7F6F2"/>
              </a:solidFill>
              <a:effectLst/>
              <a:latin typeface="Calibri" panose="020F0502020204030204" pitchFamily="34" charset="0"/>
              <a:ea typeface="Calibri" panose="020F0502020204030204" pitchFamily="34" charset="0"/>
            </a:endParaRPr>
          </a:p>
          <a:p>
            <a:pPr marL="342900" marR="0" lvl="0" indent="-342900">
              <a:lnSpc>
                <a:spcPct val="107000"/>
              </a:lnSpc>
              <a:spcBef>
                <a:spcPts val="0"/>
              </a:spcBef>
              <a:spcAft>
                <a:spcPts val="0"/>
              </a:spcAft>
              <a:buFont typeface="Symbol" panose="05050102010706020507" pitchFamily="18" charset="2"/>
              <a:buChar char=""/>
            </a:pPr>
            <a:r>
              <a:rPr lang="en-US" sz="1800" i="1" kern="100" dirty="0">
                <a:solidFill>
                  <a:srgbClr val="F7F6F2"/>
                </a:solidFill>
                <a:effectLst/>
                <a:latin typeface="Georgia" panose="02040502050405020303" pitchFamily="18" charset="0"/>
                <a:ea typeface="Aptos" panose="020B0004020202020204" pitchFamily="34" charset="0"/>
                <a:cs typeface="Times New Roman" panose="02020603050405020304" pitchFamily="18" charset="0"/>
              </a:rPr>
              <a:t>Total number of passengers who embarked was 418</a:t>
            </a:r>
            <a:endParaRPr lang="en-US" sz="1800" kern="100" dirty="0">
              <a:solidFill>
                <a:srgbClr val="F7F6F2"/>
              </a:solidFill>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800" i="1" kern="100" dirty="0">
                <a:solidFill>
                  <a:srgbClr val="F7F6F2"/>
                </a:solidFill>
                <a:effectLst/>
                <a:latin typeface="Georgia" panose="02040502050405020303" pitchFamily="18" charset="0"/>
                <a:ea typeface="Aptos" panose="020B0004020202020204" pitchFamily="34" charset="0"/>
                <a:cs typeface="Times New Roman" panose="02020603050405020304" pitchFamily="18" charset="0"/>
              </a:rPr>
              <a:t>Total number of passengers who survived was 152</a:t>
            </a:r>
            <a:endParaRPr lang="en-US" sz="1800" kern="100" dirty="0">
              <a:solidFill>
                <a:srgbClr val="F7F6F2"/>
              </a:solidFill>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800" i="1" kern="100" dirty="0">
                <a:solidFill>
                  <a:srgbClr val="F7F6F2"/>
                </a:solidFill>
                <a:effectLst/>
                <a:latin typeface="Georgia" panose="02040502050405020303" pitchFamily="18" charset="0"/>
                <a:ea typeface="Aptos" panose="020B0004020202020204" pitchFamily="34" charset="0"/>
                <a:cs typeface="Times New Roman" panose="02020603050405020304" pitchFamily="18" charset="0"/>
              </a:rPr>
              <a:t>Overall survival rate 36.36%</a:t>
            </a:r>
            <a:endParaRPr lang="en-US" sz="1800" kern="100" dirty="0">
              <a:solidFill>
                <a:srgbClr val="F7F6F2"/>
              </a:solidFill>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800" i="1" kern="100" dirty="0">
                <a:solidFill>
                  <a:srgbClr val="F7F6F2"/>
                </a:solidFill>
                <a:effectLst/>
                <a:latin typeface="Georgia" panose="02040502050405020303" pitchFamily="18" charset="0"/>
                <a:ea typeface="Aptos" panose="020B0004020202020204" pitchFamily="34" charset="0"/>
                <a:cs typeface="Times New Roman" panose="02020603050405020304" pitchFamily="18" charset="0"/>
              </a:rPr>
              <a:t>Female passengers demonstrated significantly higher survival rates than males.</a:t>
            </a:r>
            <a:endParaRPr lang="en-US" sz="1800" kern="100" dirty="0">
              <a:solidFill>
                <a:srgbClr val="F7F6F2"/>
              </a:solidFill>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800" i="1" kern="100" dirty="0">
                <a:solidFill>
                  <a:srgbClr val="F7F6F2"/>
                </a:solidFill>
                <a:effectLst/>
                <a:latin typeface="Georgia" panose="02040502050405020303" pitchFamily="18" charset="0"/>
                <a:ea typeface="Aptos" panose="020B0004020202020204" pitchFamily="34" charset="0"/>
                <a:cs typeface="Times New Roman" panose="02020603050405020304" pitchFamily="18" charset="0"/>
              </a:rPr>
              <a:t>No male passengers survived.</a:t>
            </a:r>
            <a:endParaRPr lang="en-US" sz="1800" kern="100" dirty="0">
              <a:solidFill>
                <a:srgbClr val="F7F6F2"/>
              </a:solidFill>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800" i="1" kern="100" dirty="0">
                <a:solidFill>
                  <a:srgbClr val="F7F6F2"/>
                </a:solidFill>
                <a:effectLst/>
                <a:latin typeface="Georgia" panose="02040502050405020303" pitchFamily="18" charset="0"/>
                <a:ea typeface="Aptos" panose="020B0004020202020204" pitchFamily="34" charset="0"/>
                <a:cs typeface="Times New Roman" panose="02020603050405020304" pitchFamily="18" charset="0"/>
              </a:rPr>
              <a:t>Most passengers traveled alone rather than with family members.</a:t>
            </a:r>
            <a:endParaRPr lang="en-US" sz="1800" kern="100" dirty="0">
              <a:solidFill>
                <a:srgbClr val="F7F6F2"/>
              </a:solidFill>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800" i="1" kern="100" dirty="0">
                <a:solidFill>
                  <a:srgbClr val="F7F6F2"/>
                </a:solidFill>
                <a:effectLst/>
                <a:latin typeface="Georgia" panose="02040502050405020303" pitchFamily="18" charset="0"/>
                <a:ea typeface="Aptos" panose="020B0004020202020204" pitchFamily="34" charset="0"/>
                <a:cs typeface="Times New Roman" panose="02020603050405020304" pitchFamily="18" charset="0"/>
              </a:rPr>
              <a:t>Southampton was the most common embarkation point.</a:t>
            </a:r>
            <a:endParaRPr lang="en-US" sz="1800" kern="100" dirty="0">
              <a:solidFill>
                <a:srgbClr val="F7F6F2"/>
              </a:solidFill>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sz="1800" i="1" kern="100" dirty="0">
                <a:solidFill>
                  <a:srgbClr val="F7F6F2"/>
                </a:solidFill>
                <a:effectLst/>
                <a:latin typeface="Georgia" panose="02040502050405020303" pitchFamily="18" charset="0"/>
                <a:ea typeface="Aptos" panose="020B0004020202020204" pitchFamily="34" charset="0"/>
                <a:cs typeface="Times New Roman" panose="02020603050405020304" pitchFamily="18" charset="0"/>
              </a:rPr>
              <a:t>Gender, passenger class, and age were significant factors influencing survival outcomes.</a:t>
            </a:r>
            <a:endParaRPr lang="en-US" sz="1800" kern="100" dirty="0">
              <a:solidFill>
                <a:srgbClr val="F7F6F2"/>
              </a:solidFill>
              <a:effectLst/>
              <a:latin typeface="Aptos" panose="020B0004020202020204" pitchFamily="34" charset="0"/>
              <a:ea typeface="Aptos" panose="020B0004020202020204" pitchFamily="34" charset="0"/>
              <a:cs typeface="Times New Roman" panose="02020603050405020304" pitchFamily="18" charset="0"/>
            </a:endParaRPr>
          </a:p>
          <a:p>
            <a:endParaRPr lang="en-US" dirty="0">
              <a:solidFill>
                <a:srgbClr val="F7F6F2"/>
              </a:solidFill>
            </a:endParaRPr>
          </a:p>
        </p:txBody>
      </p:sp>
      <p:graphicFrame>
        <p:nvGraphicFramePr>
          <p:cNvPr id="6" name="Chart 5">
            <a:extLst>
              <a:ext uri="{FF2B5EF4-FFF2-40B4-BE49-F238E27FC236}">
                <a16:creationId xmlns:a16="http://schemas.microsoft.com/office/drawing/2014/main" id="{E13A0E1B-1AA6-B06E-7123-002905A816E9}"/>
              </a:ext>
            </a:extLst>
          </p:cNvPr>
          <p:cNvGraphicFramePr>
            <a:graphicFrameLocks/>
          </p:cNvGraphicFramePr>
          <p:nvPr>
            <p:extLst>
              <p:ext uri="{D42A27DB-BD31-4B8C-83A1-F6EECF244321}">
                <p14:modId xmlns:p14="http://schemas.microsoft.com/office/powerpoint/2010/main" val="426986912"/>
              </p:ext>
            </p:extLst>
          </p:nvPr>
        </p:nvGraphicFramePr>
        <p:xfrm>
          <a:off x="1078173" y="4233562"/>
          <a:ext cx="1981199" cy="11049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a:extLst>
              <a:ext uri="{FF2B5EF4-FFF2-40B4-BE49-F238E27FC236}">
                <a16:creationId xmlns:a16="http://schemas.microsoft.com/office/drawing/2014/main" id="{199B47A6-25EB-9EF6-B269-29CA42381744}"/>
              </a:ext>
            </a:extLst>
          </p:cNvPr>
          <p:cNvGraphicFramePr>
            <a:graphicFrameLocks/>
          </p:cNvGraphicFramePr>
          <p:nvPr>
            <p:extLst>
              <p:ext uri="{D42A27DB-BD31-4B8C-83A1-F6EECF244321}">
                <p14:modId xmlns:p14="http://schemas.microsoft.com/office/powerpoint/2010/main" val="1677518299"/>
              </p:ext>
            </p:extLst>
          </p:nvPr>
        </p:nvGraphicFramePr>
        <p:xfrm>
          <a:off x="3427649" y="4233563"/>
          <a:ext cx="2143125" cy="11049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Chart 7">
            <a:extLst>
              <a:ext uri="{FF2B5EF4-FFF2-40B4-BE49-F238E27FC236}">
                <a16:creationId xmlns:a16="http://schemas.microsoft.com/office/drawing/2014/main" id="{92DBA7C9-955A-2709-5E05-222D5BA9A89A}"/>
              </a:ext>
            </a:extLst>
          </p:cNvPr>
          <p:cNvGraphicFramePr>
            <a:graphicFrameLocks/>
          </p:cNvGraphicFramePr>
          <p:nvPr>
            <p:extLst>
              <p:ext uri="{D42A27DB-BD31-4B8C-83A1-F6EECF244321}">
                <p14:modId xmlns:p14="http://schemas.microsoft.com/office/powerpoint/2010/main" val="3412953842"/>
              </p:ext>
            </p:extLst>
          </p:nvPr>
        </p:nvGraphicFramePr>
        <p:xfrm>
          <a:off x="5868537" y="4235552"/>
          <a:ext cx="1819276" cy="110291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40937210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D78A490-0EC5-1BA8-8279-749C734CC39A}"/>
              </a:ext>
            </a:extLst>
          </p:cNvPr>
          <p:cNvSpPr/>
          <p:nvPr/>
        </p:nvSpPr>
        <p:spPr>
          <a:xfrm>
            <a:off x="0" y="0"/>
            <a:ext cx="12192000" cy="6858000"/>
          </a:xfrm>
          <a:prstGeom prst="rect">
            <a:avLst/>
          </a:prstGeom>
          <a:solidFill>
            <a:srgbClr val="06315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21F9CAB0-7A12-2F63-6D5D-291952BA4C2E}"/>
              </a:ext>
            </a:extLst>
          </p:cNvPr>
          <p:cNvPicPr>
            <a:picLocks noChangeAspect="1"/>
          </p:cNvPicPr>
          <p:nvPr/>
        </p:nvPicPr>
        <p:blipFill>
          <a:blip r:embed="rId2"/>
          <a:stretch>
            <a:fillRect/>
          </a:stretch>
        </p:blipFill>
        <p:spPr>
          <a:xfrm>
            <a:off x="2374709" y="1746913"/>
            <a:ext cx="7724633" cy="4490113"/>
          </a:xfrm>
          <a:prstGeom prst="rect">
            <a:avLst/>
          </a:prstGeom>
        </p:spPr>
      </p:pic>
      <p:sp>
        <p:nvSpPr>
          <p:cNvPr id="5" name="TextBox 4">
            <a:extLst>
              <a:ext uri="{FF2B5EF4-FFF2-40B4-BE49-F238E27FC236}">
                <a16:creationId xmlns:a16="http://schemas.microsoft.com/office/drawing/2014/main" id="{78BE5BA9-4E5C-8F43-C6AA-475A4420C5EC}"/>
              </a:ext>
            </a:extLst>
          </p:cNvPr>
          <p:cNvSpPr txBox="1"/>
          <p:nvPr/>
        </p:nvSpPr>
        <p:spPr>
          <a:xfrm>
            <a:off x="2825087" y="982639"/>
            <a:ext cx="4421874" cy="584775"/>
          </a:xfrm>
          <a:prstGeom prst="rect">
            <a:avLst/>
          </a:prstGeom>
          <a:noFill/>
        </p:spPr>
        <p:txBody>
          <a:bodyPr wrap="square" rtlCol="0">
            <a:spAutoFit/>
          </a:bodyPr>
          <a:lstStyle/>
          <a:p>
            <a:pPr algn="ctr"/>
            <a:r>
              <a:rPr lang="en-US" sz="3200" b="1" dirty="0">
                <a:solidFill>
                  <a:srgbClr val="F7F6F2"/>
                </a:solidFill>
                <a:latin typeface="Georgia" panose="02040502050405020303" pitchFamily="18" charset="0"/>
              </a:rPr>
              <a:t>RESULTS</a:t>
            </a:r>
          </a:p>
        </p:txBody>
      </p:sp>
    </p:spTree>
    <p:extLst>
      <p:ext uri="{BB962C8B-B14F-4D97-AF65-F5344CB8AC3E}">
        <p14:creationId xmlns:p14="http://schemas.microsoft.com/office/powerpoint/2010/main" val="14560399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D78A490-0EC5-1BA8-8279-749C734CC39A}"/>
              </a:ext>
            </a:extLst>
          </p:cNvPr>
          <p:cNvSpPr/>
          <p:nvPr/>
        </p:nvSpPr>
        <p:spPr>
          <a:xfrm>
            <a:off x="0" y="0"/>
            <a:ext cx="12192000" cy="6858000"/>
          </a:xfrm>
          <a:prstGeom prst="rect">
            <a:avLst/>
          </a:prstGeom>
          <a:solidFill>
            <a:srgbClr val="06315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7368FB95-1472-D5F5-E7E2-CD5915321B4F}"/>
              </a:ext>
            </a:extLst>
          </p:cNvPr>
          <p:cNvSpPr txBox="1"/>
          <p:nvPr/>
        </p:nvSpPr>
        <p:spPr>
          <a:xfrm>
            <a:off x="1978924" y="1705970"/>
            <a:ext cx="6264323" cy="2361031"/>
          </a:xfrm>
          <a:prstGeom prst="rect">
            <a:avLst/>
          </a:prstGeom>
          <a:noFill/>
        </p:spPr>
        <p:txBody>
          <a:bodyPr wrap="square" rtlCol="0">
            <a:spAutoFit/>
          </a:bodyPr>
          <a:lstStyle/>
          <a:p>
            <a:pPr marL="6350" marR="0" indent="-6350">
              <a:lnSpc>
                <a:spcPct val="112000"/>
              </a:lnSpc>
              <a:spcBef>
                <a:spcPts val="0"/>
              </a:spcBef>
              <a:spcAft>
                <a:spcPts val="860"/>
              </a:spcAft>
            </a:pPr>
            <a:r>
              <a:rPr lang="en-US" sz="1800" b="1" kern="100" dirty="0">
                <a:solidFill>
                  <a:srgbClr val="F7F6F2"/>
                </a:solidFill>
                <a:effectLst/>
                <a:latin typeface="Georgia" panose="02040502050405020303" pitchFamily="18" charset="0"/>
                <a:ea typeface="Calibri" panose="020F0502020204030204" pitchFamily="34" charset="0"/>
              </a:rPr>
              <a:t>Conclusion</a:t>
            </a:r>
            <a:endParaRPr lang="en-US" sz="1800" kern="100" dirty="0">
              <a:solidFill>
                <a:srgbClr val="F7F6F2"/>
              </a:solidFill>
              <a:effectLst/>
              <a:latin typeface="Calibri" panose="020F0502020204030204" pitchFamily="34" charset="0"/>
              <a:ea typeface="Calibri" panose="020F0502020204030204" pitchFamily="34" charset="0"/>
            </a:endParaRPr>
          </a:p>
          <a:p>
            <a:pPr marL="6350" marR="0" indent="-6350">
              <a:lnSpc>
                <a:spcPct val="112000"/>
              </a:lnSpc>
              <a:spcBef>
                <a:spcPts val="0"/>
              </a:spcBef>
              <a:spcAft>
                <a:spcPts val="860"/>
              </a:spcAft>
            </a:pPr>
            <a:r>
              <a:rPr lang="en-US" sz="1800" i="1" kern="100" dirty="0">
                <a:solidFill>
                  <a:srgbClr val="F7F6F2"/>
                </a:solidFill>
                <a:effectLst/>
                <a:latin typeface="Georgia" panose="02040502050405020303" pitchFamily="18" charset="0"/>
                <a:ea typeface="Calibri" panose="020F0502020204030204" pitchFamily="34" charset="0"/>
              </a:rPr>
              <a:t>The analysis highlights the strong relationship between survival rates and demographic factors such as gender, age, and passenger class. Female passengers and individuals traveling in higher classes were more likely to survive, while male and third-class passengers faced greater risks.</a:t>
            </a:r>
            <a:endParaRPr lang="en-US" sz="1800" kern="100" dirty="0">
              <a:solidFill>
                <a:srgbClr val="F7F6F2"/>
              </a:solidFill>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11820669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D78A490-0EC5-1BA8-8279-749C734CC39A}"/>
              </a:ext>
            </a:extLst>
          </p:cNvPr>
          <p:cNvSpPr/>
          <p:nvPr/>
        </p:nvSpPr>
        <p:spPr>
          <a:xfrm>
            <a:off x="0" y="0"/>
            <a:ext cx="12192000" cy="6858000"/>
          </a:xfrm>
          <a:prstGeom prst="rect">
            <a:avLst/>
          </a:prstGeom>
          <a:solidFill>
            <a:srgbClr val="06315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7368FB95-1472-D5F5-E7E2-CD5915321B4F}"/>
              </a:ext>
            </a:extLst>
          </p:cNvPr>
          <p:cNvSpPr txBox="1"/>
          <p:nvPr/>
        </p:nvSpPr>
        <p:spPr>
          <a:xfrm>
            <a:off x="1978924" y="1705970"/>
            <a:ext cx="6264323" cy="3172792"/>
          </a:xfrm>
          <a:prstGeom prst="rect">
            <a:avLst/>
          </a:prstGeom>
          <a:noFill/>
        </p:spPr>
        <p:txBody>
          <a:bodyPr wrap="square" rtlCol="0">
            <a:spAutoFit/>
          </a:bodyPr>
          <a:lstStyle/>
          <a:p>
            <a:pPr marL="6350" marR="0" indent="-6350">
              <a:lnSpc>
                <a:spcPct val="112000"/>
              </a:lnSpc>
              <a:spcBef>
                <a:spcPts val="0"/>
              </a:spcBef>
              <a:spcAft>
                <a:spcPts val="860"/>
              </a:spcAft>
            </a:pPr>
            <a:r>
              <a:rPr lang="en-US" sz="1800" b="1" kern="100" dirty="0">
                <a:solidFill>
                  <a:srgbClr val="F7F6F2"/>
                </a:solidFill>
                <a:effectLst/>
                <a:latin typeface="Georgia" panose="02040502050405020303" pitchFamily="18" charset="0"/>
                <a:ea typeface="Calibri" panose="020F0502020204030204" pitchFamily="34" charset="0"/>
              </a:rPr>
              <a:t>Recommendation:</a:t>
            </a:r>
            <a:endParaRPr lang="en-US" sz="1800" kern="100" dirty="0">
              <a:solidFill>
                <a:srgbClr val="F7F6F2"/>
              </a:solidFill>
              <a:effectLst/>
              <a:latin typeface="Calibri" panose="020F0502020204030204" pitchFamily="34" charset="0"/>
              <a:ea typeface="Calibri" panose="020F0502020204030204" pitchFamily="34" charset="0"/>
            </a:endParaRPr>
          </a:p>
          <a:p>
            <a:pPr marL="342900" marR="0" lvl="0" indent="-342900">
              <a:lnSpc>
                <a:spcPct val="107000"/>
              </a:lnSpc>
              <a:spcBef>
                <a:spcPts val="0"/>
              </a:spcBef>
              <a:spcAft>
                <a:spcPts val="0"/>
              </a:spcAft>
              <a:buFont typeface="Symbol" panose="05050102010706020507" pitchFamily="18" charset="2"/>
              <a:buChar char=""/>
            </a:pPr>
            <a:r>
              <a:rPr lang="en-US" sz="1800" i="1" kern="100" dirty="0">
                <a:solidFill>
                  <a:srgbClr val="F7F6F2"/>
                </a:solidFill>
                <a:effectLst/>
                <a:latin typeface="Georgia" panose="02040502050405020303" pitchFamily="18" charset="0"/>
                <a:ea typeface="Aptos" panose="020B0004020202020204" pitchFamily="34" charset="0"/>
                <a:cs typeface="Times New Roman" panose="02020603050405020304" pitchFamily="18" charset="0"/>
              </a:rPr>
              <a:t>Prioritize vulnerable passengers during emergencies, evacuation should be based on passengers with health issues, aged passengers and children from zero (0) to fifteen (15) before anyone else.</a:t>
            </a:r>
            <a:endParaRPr lang="en-US" sz="1800" kern="100" dirty="0">
              <a:solidFill>
                <a:srgbClr val="F7F6F2"/>
              </a:solidFill>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800" i="1" kern="100" dirty="0">
                <a:solidFill>
                  <a:srgbClr val="F7F6F2"/>
                </a:solidFill>
                <a:effectLst/>
                <a:latin typeface="Georgia" panose="02040502050405020303" pitchFamily="18" charset="0"/>
                <a:ea typeface="Aptos" panose="020B0004020202020204" pitchFamily="34" charset="0"/>
                <a:cs typeface="Times New Roman" panose="02020603050405020304" pitchFamily="18" charset="0"/>
              </a:rPr>
              <a:t>Improve equal access to emergency resources </a:t>
            </a:r>
            <a:endParaRPr lang="en-US" sz="1800" kern="100" dirty="0">
              <a:solidFill>
                <a:srgbClr val="F7F6F2"/>
              </a:solidFill>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800" i="1" kern="100" dirty="0">
                <a:solidFill>
                  <a:srgbClr val="F7F6F2"/>
                </a:solidFill>
                <a:effectLst/>
                <a:latin typeface="Georgia" panose="02040502050405020303" pitchFamily="18" charset="0"/>
                <a:ea typeface="Aptos" panose="020B0004020202020204" pitchFamily="34" charset="0"/>
                <a:cs typeface="Times New Roman" panose="02020603050405020304" pitchFamily="18" charset="0"/>
              </a:rPr>
              <a:t>Enhance passenger safety awareness</a:t>
            </a:r>
            <a:endParaRPr lang="en-US" sz="1800" kern="100" dirty="0">
              <a:solidFill>
                <a:srgbClr val="F7F6F2"/>
              </a:solidFill>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800" i="1" kern="100" dirty="0">
                <a:solidFill>
                  <a:srgbClr val="F7F6F2"/>
                </a:solidFill>
                <a:effectLst/>
                <a:latin typeface="Georgia" panose="02040502050405020303" pitchFamily="18" charset="0"/>
                <a:ea typeface="Aptos" panose="020B0004020202020204" pitchFamily="34" charset="0"/>
                <a:cs typeface="Times New Roman" panose="02020603050405020304" pitchFamily="18" charset="0"/>
              </a:rPr>
              <a:t>Conduct frequent emergency drills for crew members</a:t>
            </a:r>
            <a:endParaRPr lang="en-US" sz="1800" kern="100" dirty="0">
              <a:solidFill>
                <a:srgbClr val="F7F6F2"/>
              </a:solidFill>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800" i="1" kern="100" dirty="0">
                <a:solidFill>
                  <a:srgbClr val="F7F6F2"/>
                </a:solidFill>
                <a:effectLst/>
                <a:latin typeface="Georgia" panose="02040502050405020303" pitchFamily="18" charset="0"/>
                <a:ea typeface="Aptos" panose="020B0004020202020204" pitchFamily="34" charset="0"/>
                <a:cs typeface="Times New Roman" panose="02020603050405020304" pitchFamily="18" charset="0"/>
              </a:rPr>
              <a:t>Improve data collection </a:t>
            </a:r>
            <a:endParaRPr lang="en-US" sz="1800" kern="100" dirty="0">
              <a:solidFill>
                <a:srgbClr val="F7F6F2"/>
              </a:solidFill>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sz="1800" i="1" kern="100" dirty="0">
                <a:solidFill>
                  <a:srgbClr val="F7F6F2"/>
                </a:solidFill>
                <a:effectLst/>
                <a:latin typeface="Georgia" panose="02040502050405020303" pitchFamily="18" charset="0"/>
                <a:ea typeface="Aptos" panose="020B0004020202020204" pitchFamily="34" charset="0"/>
                <a:cs typeface="Times New Roman" panose="02020603050405020304" pitchFamily="18" charset="0"/>
              </a:rPr>
              <a:t>Analysis should be carried out for risk management</a:t>
            </a:r>
            <a:r>
              <a:rPr lang="en-US" i="1" kern="100" dirty="0">
                <a:solidFill>
                  <a:srgbClr val="F7F6F2"/>
                </a:solidFill>
                <a:latin typeface="Aptos" panose="020B0004020202020204" pitchFamily="34" charset="0"/>
                <a:ea typeface="Aptos" panose="020B0004020202020204" pitchFamily="34" charset="0"/>
                <a:cs typeface="Times New Roman" panose="02020603050405020304" pitchFamily="18" charset="0"/>
              </a:rPr>
              <a:t>.</a:t>
            </a:r>
            <a:endParaRPr lang="en-US" sz="1800" kern="100" dirty="0">
              <a:solidFill>
                <a:srgbClr val="F7F6F2"/>
              </a:solidFill>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7668613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TotalTime>
  <Words>274</Words>
  <Application>Microsoft Office PowerPoint</Application>
  <PresentationFormat>Widescreen</PresentationFormat>
  <Paragraphs>35</Paragraphs>
  <Slides>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Aptos</vt:lpstr>
      <vt:lpstr>Aptos Display</vt:lpstr>
      <vt:lpstr>Arial</vt:lpstr>
      <vt:lpstr>Calibri</vt:lpstr>
      <vt:lpstr>Georgia</vt:lpstr>
      <vt:lpstr>Symbol</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Favour Okocha</dc:creator>
  <cp:lastModifiedBy>sada sada</cp:lastModifiedBy>
  <cp:revision>2</cp:revision>
  <dcterms:created xsi:type="dcterms:W3CDTF">2026-06-10T22:36:39Z</dcterms:created>
  <dcterms:modified xsi:type="dcterms:W3CDTF">2026-10-12T11:38:45Z</dcterms:modified>
</cp:coreProperties>
</file>